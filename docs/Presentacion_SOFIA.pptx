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de 19. Saludo. Presentar el proyecto SOFIA en una frase: asistente de voz personal que corre 100% en tu computador, sin internet, sin suscripciones, en espanol.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2min aprox. Alexa, Google, Siri, Cortana — todos mandan tu audio a servidores. Mostrar esto como el pain point principal para audiencia academica y empresarial.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SOFIA resuelve los 4 problemas del slide anterior. Demo en vivo viene en el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minutos (min 3:00 a 8:00 de la presentacion). Mostrar: 1) activacion por voz, 2) clima, 3) abrir/cerrar app, 4) crear evento en agenda, 5) pregunta libre al LLM. Si falla algo: tener demo en video de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8:00 - 10:00. Explicar el doble Whisper y por que. En produccion, tiny confundia 'sofia' con 'novia'/'via'. El lazy loading es la optimizacion mas importante de latencia percibida.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9:00 - 10:30. La regla clave: skills depende de core, nunca al reves. Agregar una skill nueva = 1 archivo + 1 linea. El nucleo no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diagrama UML. Enfatizar: servicios externos (Open-Meteo, HuggingFace) aislados en la frontera derecha. core.ia no depende de core.memoria — independientes por diseno.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Catálogo funcional completo. 5 actores. Los tres canales de entrada (voz, texto, botón) incluyen siempre el mismo Router. LLM como extend de Conversar Libremente — muestra que es la ultima instancia.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de actividades. Resaltar el fork/join que muestra el paralelismo real del codigo — no es diagramacion: es como funciona en el codigo.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Traza completa de un comando real. El bloque ALT al final confirma que el LLM solo se activa cuando NINGUN skill hace match — argumento clave de eficiencia.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Distincion clave: clases con estado (Router, ContextManager, Escuchador, etc.) vs modulos funcionales (ia, memoria, skills). Decision consciente: no sobre-ingenierizar donde no aporta valor.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11:00 - 13:00. Defender cada decision. Si preguntan por alternativas: ya estaban documentadas en los ADR — mostrar que se evaluaron y descartaron por razon tecnica especifica.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Argumento comercial: bajo costo de integracion con sistemas del cliente. Diferenciador clave frente a alternativas cerradas.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Argumento clave para audiencia academica y empresarial. Privacidad no como feature sino como consecuencia de la arquitectura. Ningun dato personal cruza la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dependencias son open source o gratuitas. Sin licencias comerciales. Sin suscripciones.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13:00 - 14:00. Prueba de stress: 5 consultas, 100% tasa de exito, +501 MB RAM (carga inicial de modulos, NO fuga de memoria). Benchmarks formales de WER y latencia pendientes de sesion con microfono.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Simplicidad de despliegue: un .exe, sin configuracion manual, sin API keys. Para empresas: puede pre-configurarse con .env corporativo.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13:30 - 14:00. El roadmap no es deseo sino continuacion logica de lo que ya existe. Los datos de aprendizaje.json ya se estan acumulando para el fine-tuning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 14:00 - 15:00. Dejar tiempo para preguntas. Temas probables: 1) Por que Python y no Rust/C++? (rapidez de prototipado, ecosistema ML), 2) Escalabilidad a multiples usuarios? (diseno de un usuario, hablar de posibles extensiones), 3) Precision del STT en espanol? (Whisper base fue entrenado en espanol, mejor que tiny), 4) Costo del hardware recomendado? (RTX 3050 = ~$400, o cualquier PC con 8GB RAM para modo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220"/>
        </a:solidFill>
      </p:bgPr>
    </p:bg>
    <p:spTree>
      <p:nvGrpSpPr>
        <p:cNvPr id="1" name=""/>
        <p:cNvGrpSpPr/>
        <p:nvPr/>
      </p:nvGrpSpPr>
      <p:grpSpPr>
        <a:xfrm>
          <a:off x="0" y="0"/>
          <a:ext cx="0" cy="0"/>
          <a:chOff x="0" y="0"/>
          <a:chExt cx="0" cy="0"/>
        </a:xfrm>
      </p:grpSpPr>
      <p:sp>
        <p:nvSpPr>
          <p:cNvPr id="2" name="Shape 0"/>
          <p:cNvSpPr/>
          <p:nvPr/>
        </p:nvSpPr>
        <p:spPr>
          <a:xfrm>
            <a:off x="3200400" y="-1371600"/>
            <a:ext cx="6400800" cy="6400800"/>
          </a:xfrm>
          <a:prstGeom prst="ellipse">
            <a:avLst/>
          </a:prstGeom>
          <a:solidFill>
            <a:srgbClr val="7C5CFF">
              <a:alpha val="12000"/>
            </a:srgbClr>
          </a:solidFill>
          <a:ln w="12700">
            <a:solidFill>
              <a:srgbClr val="7C5CFF">
                <a:alpha val="12000"/>
              </a:srgbClr>
            </a:solidFill>
            <a:prstDash val="solid"/>
          </a:ln>
        </p:spPr>
      </p:sp>
      <p:sp>
        <p:nvSpPr>
          <p:cNvPr id="3" name="Shape 1"/>
          <p:cNvSpPr/>
          <p:nvPr/>
        </p:nvSpPr>
        <p:spPr>
          <a:xfrm>
            <a:off x="-914400" y="2286000"/>
            <a:ext cx="4572000" cy="4572000"/>
          </a:xfrm>
          <a:prstGeom prst="ellipse">
            <a:avLst/>
          </a:prstGeom>
          <a:solidFill>
            <a:srgbClr val="4CC9F0">
              <a:alpha val="10000"/>
            </a:srgbClr>
          </a:solidFill>
          <a:ln w="12700">
            <a:solidFill>
              <a:srgbClr val="4CC9F0">
                <a:alpha val="10000"/>
              </a:srgbClr>
            </a:solidFill>
            <a:prstDash val="solid"/>
          </a:ln>
        </p:spPr>
      </p:sp>
      <p:sp>
        <p:nvSpPr>
          <p:cNvPr id="4" name="Text 2"/>
          <p:cNvSpPr/>
          <p:nvPr/>
        </p:nvSpPr>
        <p:spPr>
          <a:xfrm>
            <a:off x="457200" y="640080"/>
            <a:ext cx="8229600" cy="1463040"/>
          </a:xfrm>
          <a:prstGeom prst="rect">
            <a:avLst/>
          </a:prstGeom>
          <a:noFill/>
          <a:ln/>
        </p:spPr>
        <p:txBody>
          <a:bodyPr wrap="square" rtlCol="0" anchor="ctr"/>
          <a:lstStyle/>
          <a:p>
            <a:pPr algn="ctr" indent="0" marL="0">
              <a:buNone/>
            </a:pPr>
            <a:r>
              <a:rPr lang="en-US" sz="7200" b="1" spc="1000" kern="0" dirty="0">
                <a:solidFill>
                  <a:srgbClr val="FFFFFF"/>
                </a:solidFill>
                <a:latin typeface="Calibri" pitchFamily="34" charset="0"/>
                <a:ea typeface="Calibri" pitchFamily="34" charset="-122"/>
                <a:cs typeface="Calibri" pitchFamily="34" charset="-120"/>
              </a:rPr>
              <a:t>S O F Í A</a:t>
            </a:r>
            <a:endParaRPr lang="en-US" sz="7200" dirty="0"/>
          </a:p>
        </p:txBody>
      </p:sp>
      <p:sp>
        <p:nvSpPr>
          <p:cNvPr id="5" name="Text 3"/>
          <p:cNvSpPr/>
          <p:nvPr/>
        </p:nvSpPr>
        <p:spPr>
          <a:xfrm>
            <a:off x="457200" y="2240280"/>
            <a:ext cx="8229600" cy="502920"/>
          </a:xfrm>
          <a:prstGeom prst="rect">
            <a:avLst/>
          </a:prstGeom>
          <a:noFill/>
          <a:ln/>
        </p:spPr>
        <p:txBody>
          <a:bodyPr wrap="square" rtlCol="0" anchor="ctr"/>
          <a:lstStyle/>
          <a:p>
            <a:pPr algn="ctr" indent="0" marL="0">
              <a:buNone/>
            </a:pPr>
            <a:r>
              <a:rPr lang="en-US" sz="2000" dirty="0">
                <a:solidFill>
                  <a:srgbClr val="4CC9F0"/>
                </a:solidFill>
                <a:latin typeface="Calibri" pitchFamily="34" charset="0"/>
                <a:ea typeface="Calibri" pitchFamily="34" charset="-122"/>
                <a:cs typeface="Calibri" pitchFamily="34" charset="-120"/>
              </a:rPr>
              <a:t>Sistema Offline de Funciones con Inteligencia Artificial</a:t>
            </a:r>
            <a:endParaRPr lang="en-US" sz="2000" dirty="0"/>
          </a:p>
        </p:txBody>
      </p:sp>
      <p:sp>
        <p:nvSpPr>
          <p:cNvPr id="6" name="Shape 4"/>
          <p:cNvSpPr/>
          <p:nvPr/>
        </p:nvSpPr>
        <p:spPr>
          <a:xfrm>
            <a:off x="2286000" y="2880360"/>
            <a:ext cx="4572000" cy="36576"/>
          </a:xfrm>
          <a:prstGeom prst="rect">
            <a:avLst/>
          </a:prstGeom>
          <a:solidFill>
            <a:srgbClr val="7C5CFF"/>
          </a:solidFill>
          <a:ln w="12700">
            <a:solidFill>
              <a:srgbClr val="7C5CFF"/>
            </a:solidFill>
            <a:prstDash val="solid"/>
          </a:ln>
        </p:spPr>
      </p:sp>
      <p:sp>
        <p:nvSpPr>
          <p:cNvPr id="7" name="Text 5"/>
          <p:cNvSpPr/>
          <p:nvPr/>
        </p:nvSpPr>
        <p:spPr>
          <a:xfrm>
            <a:off x="457200" y="3063240"/>
            <a:ext cx="8229600" cy="411480"/>
          </a:xfrm>
          <a:prstGeom prst="rect">
            <a:avLst/>
          </a:prstGeom>
          <a:noFill/>
          <a:ln/>
        </p:spPr>
        <p:txBody>
          <a:bodyPr wrap="square" rtlCol="0" anchor="ctr"/>
          <a:lstStyle/>
          <a:p>
            <a:pPr algn="ctr" indent="0" marL="0">
              <a:buNone/>
            </a:pPr>
            <a:r>
              <a:rPr lang="en-US" sz="1600" dirty="0">
                <a:solidFill>
                  <a:srgbClr val="B0BAD0"/>
                </a:solidFill>
                <a:latin typeface="Calibri" pitchFamily="34" charset="0"/>
                <a:ea typeface="Calibri" pitchFamily="34" charset="-122"/>
                <a:cs typeface="Calibri" pitchFamily="34" charset="-120"/>
              </a:rPr>
              <a:t>Asistente de Voz Personal · 100% Offline · Windows</a:t>
            </a:r>
            <a:endParaRPr lang="en-US" sz="1600" dirty="0"/>
          </a:p>
        </p:txBody>
      </p:sp>
      <p:sp>
        <p:nvSpPr>
          <p:cNvPr id="8" name="Text 6"/>
          <p:cNvSpPr/>
          <p:nvPr/>
        </p:nvSpPr>
        <p:spPr>
          <a:xfrm>
            <a:off x="457200" y="4663440"/>
            <a:ext cx="8229600" cy="320040"/>
          </a:xfrm>
          <a:prstGeom prst="rect">
            <a:avLst/>
          </a:prstGeom>
          <a:noFill/>
          <a:ln/>
        </p:spPr>
        <p:txBody>
          <a:bodyPr wrap="square" rtlCol="0" anchor="ctr"/>
          <a:lstStyle/>
          <a:p>
            <a:pPr algn="ctr" indent="0" marL="0">
              <a:buNone/>
            </a:pPr>
            <a:r>
              <a:rPr lang="en-US" sz="1300" dirty="0">
                <a:solidFill>
                  <a:srgbClr val="5A6480"/>
                </a:solidFill>
              </a:rPr>
              <a:t>Presentación Final — Junio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El Problema con los Asistentes Actuales</a:t>
            </a:r>
            <a:endParaRPr lang="en-US" sz="2800" dirty="0"/>
          </a:p>
        </p:txBody>
      </p:sp>
      <p:sp>
        <p:nvSpPr>
          <p:cNvPr id="3" name="Shape 1"/>
          <p:cNvSpPr/>
          <p:nvPr/>
        </p:nvSpPr>
        <p:spPr>
          <a:xfrm>
            <a:off x="365760" y="777240"/>
            <a:ext cx="8412480" cy="36576"/>
          </a:xfrm>
          <a:prstGeom prst="rect">
            <a:avLst/>
          </a:prstGeom>
          <a:solidFill>
            <a:srgbClr val="D29922"/>
          </a:solidFill>
          <a:ln w="12700">
            <a:solidFill>
              <a:srgbClr val="D29922"/>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2 / 19</a:t>
            </a:r>
            <a:endParaRPr lang="en-US" sz="1000" dirty="0"/>
          </a:p>
        </p:txBody>
      </p:sp>
      <p:sp>
        <p:nvSpPr>
          <p:cNvPr id="5" name="Shape 3"/>
          <p:cNvSpPr/>
          <p:nvPr/>
        </p:nvSpPr>
        <p:spPr>
          <a:xfrm>
            <a:off x="320040" y="987552"/>
            <a:ext cx="4114800" cy="1600200"/>
          </a:xfrm>
          <a:prstGeom prst="roundRect">
            <a:avLst>
              <a:gd name="adj" fmla="val 6857"/>
            </a:avLst>
          </a:prstGeom>
          <a:solidFill>
            <a:srgbClr val="222840"/>
          </a:solidFill>
          <a:ln/>
          <a:effectLst>
            <a:outerShdw sx="100000" sy="100000" kx="0" ky="0" algn="bl" rotWithShape="0" blurRad="101600" dist="38100" dir="2700000">
              <a:srgbClr val="000000">
                <a:alpha val="25000"/>
              </a:srgbClr>
            </a:outerShdw>
          </a:effectLst>
        </p:spPr>
      </p:sp>
      <p:sp>
        <p:nvSpPr>
          <p:cNvPr id="6" name="Text 4"/>
          <p:cNvSpPr/>
          <p:nvPr/>
        </p:nvSpPr>
        <p:spPr>
          <a:xfrm>
            <a:off x="484632" y="1097280"/>
            <a:ext cx="3785616" cy="329184"/>
          </a:xfrm>
          <a:prstGeom prst="rect">
            <a:avLst/>
          </a:prstGeom>
          <a:noFill/>
          <a:ln/>
        </p:spPr>
        <p:txBody>
          <a:bodyPr wrap="square" lIns="0" tIns="0" rIns="0" bIns="0"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  Privacidad</a:t>
            </a:r>
            <a:endParaRPr lang="en-US" sz="1300" dirty="0"/>
          </a:p>
        </p:txBody>
      </p:sp>
      <p:sp>
        <p:nvSpPr>
          <p:cNvPr id="7" name="Text 5"/>
          <p:cNvSpPr/>
          <p:nvPr/>
        </p:nvSpPr>
        <p:spPr>
          <a:xfrm>
            <a:off x="484632" y="1463040"/>
            <a:ext cx="3785616" cy="101498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Tu voz viaja a servidores externos.</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Cada comando queda registrado en la nube.</a:t>
            </a:r>
            <a:endParaRPr lang="en-US" sz="1200" dirty="0"/>
          </a:p>
        </p:txBody>
      </p:sp>
      <p:sp>
        <p:nvSpPr>
          <p:cNvPr id="8" name="Shape 6"/>
          <p:cNvSpPr/>
          <p:nvPr/>
        </p:nvSpPr>
        <p:spPr>
          <a:xfrm>
            <a:off x="4754880" y="987552"/>
            <a:ext cx="4114800" cy="1600200"/>
          </a:xfrm>
          <a:prstGeom prst="roundRect">
            <a:avLst>
              <a:gd name="adj" fmla="val 6857"/>
            </a:avLst>
          </a:prstGeom>
          <a:solidFill>
            <a:srgbClr val="222840"/>
          </a:solidFill>
          <a:ln/>
          <a:effectLst>
            <a:outerShdw sx="100000" sy="100000" kx="0" ky="0" algn="bl" rotWithShape="0" blurRad="101600" dist="38100" dir="2700000">
              <a:srgbClr val="000000">
                <a:alpha val="25000"/>
              </a:srgbClr>
            </a:outerShdw>
          </a:effectLst>
        </p:spPr>
      </p:sp>
      <p:sp>
        <p:nvSpPr>
          <p:cNvPr id="9" name="Text 7"/>
          <p:cNvSpPr/>
          <p:nvPr/>
        </p:nvSpPr>
        <p:spPr>
          <a:xfrm>
            <a:off x="4919472" y="1097280"/>
            <a:ext cx="3785616" cy="329184"/>
          </a:xfrm>
          <a:prstGeom prst="rect">
            <a:avLst/>
          </a:prstGeom>
          <a:noFill/>
          <a:ln/>
        </p:spPr>
        <p:txBody>
          <a:bodyPr wrap="square" lIns="0" tIns="0" rIns="0" bIns="0"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  Costo recurrente</a:t>
            </a:r>
            <a:endParaRPr lang="en-US" sz="1300" dirty="0"/>
          </a:p>
        </p:txBody>
      </p:sp>
      <p:sp>
        <p:nvSpPr>
          <p:cNvPr id="10" name="Text 8"/>
          <p:cNvSpPr/>
          <p:nvPr/>
        </p:nvSpPr>
        <p:spPr>
          <a:xfrm>
            <a:off x="4919472" y="1463040"/>
            <a:ext cx="3785616" cy="101498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APIs de voz e IA cobran por consulta.</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A escala empresarial, los costos son considerables.</a:t>
            </a:r>
            <a:endParaRPr lang="en-US" sz="1200" dirty="0"/>
          </a:p>
        </p:txBody>
      </p:sp>
      <p:sp>
        <p:nvSpPr>
          <p:cNvPr id="11" name="Shape 9"/>
          <p:cNvSpPr/>
          <p:nvPr/>
        </p:nvSpPr>
        <p:spPr>
          <a:xfrm>
            <a:off x="320040" y="2770632"/>
            <a:ext cx="4114800" cy="1600200"/>
          </a:xfrm>
          <a:prstGeom prst="roundRect">
            <a:avLst>
              <a:gd name="adj" fmla="val 6857"/>
            </a:avLst>
          </a:prstGeom>
          <a:solidFill>
            <a:srgbClr val="222840"/>
          </a:solidFill>
          <a:ln/>
          <a:effectLst>
            <a:outerShdw sx="100000" sy="100000" kx="0" ky="0" algn="bl" rotWithShape="0" blurRad="101600" dist="38100" dir="2700000">
              <a:srgbClr val="000000">
                <a:alpha val="25000"/>
              </a:srgbClr>
            </a:outerShdw>
          </a:effectLst>
        </p:spPr>
      </p:sp>
      <p:sp>
        <p:nvSpPr>
          <p:cNvPr id="12" name="Text 10"/>
          <p:cNvSpPr/>
          <p:nvPr/>
        </p:nvSpPr>
        <p:spPr>
          <a:xfrm>
            <a:off x="484632" y="2880360"/>
            <a:ext cx="3785616" cy="329184"/>
          </a:xfrm>
          <a:prstGeom prst="rect">
            <a:avLst/>
          </a:prstGeom>
          <a:noFill/>
          <a:ln/>
        </p:spPr>
        <p:txBody>
          <a:bodyPr wrap="square" lIns="0" tIns="0" rIns="0" bIns="0"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  Dependencia de red</a:t>
            </a:r>
            <a:endParaRPr lang="en-US" sz="1300" dirty="0"/>
          </a:p>
        </p:txBody>
      </p:sp>
      <p:sp>
        <p:nvSpPr>
          <p:cNvPr id="13" name="Text 11"/>
          <p:cNvSpPr/>
          <p:nvPr/>
        </p:nvSpPr>
        <p:spPr>
          <a:xfrm>
            <a:off x="484632" y="3246120"/>
            <a:ext cx="3785616" cy="101498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Sin Internet = asistente inutilizable.</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Zonas industriales, viajes, cortes de servicio.</a:t>
            </a:r>
            <a:endParaRPr lang="en-US" sz="1200" dirty="0"/>
          </a:p>
        </p:txBody>
      </p:sp>
      <p:sp>
        <p:nvSpPr>
          <p:cNvPr id="14" name="Shape 12"/>
          <p:cNvSpPr/>
          <p:nvPr/>
        </p:nvSpPr>
        <p:spPr>
          <a:xfrm>
            <a:off x="4754880" y="2770632"/>
            <a:ext cx="4114800" cy="1600200"/>
          </a:xfrm>
          <a:prstGeom prst="roundRect">
            <a:avLst>
              <a:gd name="adj" fmla="val 6857"/>
            </a:avLst>
          </a:prstGeom>
          <a:solidFill>
            <a:srgbClr val="222840"/>
          </a:solidFill>
          <a:ln/>
          <a:effectLst>
            <a:outerShdw sx="100000" sy="100000" kx="0" ky="0" algn="bl" rotWithShape="0" blurRad="101600" dist="38100" dir="2700000">
              <a:srgbClr val="000000">
                <a:alpha val="25000"/>
              </a:srgbClr>
            </a:outerShdw>
          </a:effectLst>
        </p:spPr>
      </p:sp>
      <p:sp>
        <p:nvSpPr>
          <p:cNvPr id="15" name="Text 13"/>
          <p:cNvSpPr/>
          <p:nvPr/>
        </p:nvSpPr>
        <p:spPr>
          <a:xfrm>
            <a:off x="4919472" y="2880360"/>
            <a:ext cx="3785616" cy="329184"/>
          </a:xfrm>
          <a:prstGeom prst="rect">
            <a:avLst/>
          </a:prstGeom>
          <a:noFill/>
          <a:ln/>
        </p:spPr>
        <p:txBody>
          <a:bodyPr wrap="square" lIns="0" tIns="0" rIns="0" bIns="0"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  Rigidez</a:t>
            </a:r>
            <a:endParaRPr lang="en-US" sz="1300" dirty="0"/>
          </a:p>
        </p:txBody>
      </p:sp>
      <p:sp>
        <p:nvSpPr>
          <p:cNvPr id="16" name="Text 14"/>
          <p:cNvSpPr/>
          <p:nvPr/>
        </p:nvSpPr>
        <p:spPr>
          <a:xfrm>
            <a:off x="4919472" y="3246120"/>
            <a:ext cx="3785616" cy="101498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No puedes extenderlos ni integrarlos</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con sistemas propietarios internos.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La Propuesta: SOFIA</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3 / 19</a:t>
            </a:r>
            <a:endParaRPr lang="en-US" sz="1000" dirty="0"/>
          </a:p>
        </p:txBody>
      </p:sp>
      <p:sp>
        <p:nvSpPr>
          <p:cNvPr id="5" name="Text 3"/>
          <p:cNvSpPr/>
          <p:nvPr/>
        </p:nvSpPr>
        <p:spPr>
          <a:xfrm>
            <a:off x="457200" y="914400"/>
            <a:ext cx="822960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Un asistente de voz en espanol que corre 100% en tu equipo.</a:t>
            </a:r>
            <a:endParaRPr lang="en-US" sz="2000" dirty="0"/>
          </a:p>
        </p:txBody>
      </p:sp>
      <p:sp>
        <p:nvSpPr>
          <p:cNvPr id="6" name="Shape 4"/>
          <p:cNvSpPr/>
          <p:nvPr/>
        </p:nvSpPr>
        <p:spPr>
          <a:xfrm>
            <a:off x="274320" y="1600200"/>
            <a:ext cx="2743200" cy="1508760"/>
          </a:xfrm>
          <a:prstGeom prst="roundRect">
            <a:avLst>
              <a:gd name="adj" fmla="val 7273"/>
            </a:avLst>
          </a:prstGeom>
          <a:solidFill>
            <a:srgbClr val="222840"/>
          </a:solidFill>
          <a:ln/>
          <a:effectLst>
            <a:outerShdw sx="100000" sy="100000" kx="0" ky="0" algn="bl" rotWithShape="0" blurRad="101600" dist="38100" dir="2700000">
              <a:srgbClr val="000000">
                <a:alpha val="25000"/>
              </a:srgbClr>
            </a:outerShdw>
          </a:effectLst>
        </p:spPr>
      </p:sp>
      <p:sp>
        <p:nvSpPr>
          <p:cNvPr id="7" name="Text 5"/>
          <p:cNvSpPr/>
          <p:nvPr/>
        </p:nvSpPr>
        <p:spPr>
          <a:xfrm>
            <a:off x="438912" y="1709928"/>
            <a:ext cx="2414016" cy="329184"/>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STT Local</a:t>
            </a:r>
            <a:endParaRPr lang="en-US" sz="1300" dirty="0"/>
          </a:p>
        </p:txBody>
      </p:sp>
      <p:sp>
        <p:nvSpPr>
          <p:cNvPr id="8" name="Text 6"/>
          <p:cNvSpPr/>
          <p:nvPr/>
        </p:nvSpPr>
        <p:spPr>
          <a:xfrm>
            <a:off x="438912" y="2075688"/>
            <a:ext cx="2414016" cy="92354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Faster-Whisper corre offline.</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Ningún audio sale del equipo.</a:t>
            </a:r>
            <a:endParaRPr lang="en-US" sz="1200" dirty="0"/>
          </a:p>
        </p:txBody>
      </p:sp>
      <p:sp>
        <p:nvSpPr>
          <p:cNvPr id="9" name="Shape 7"/>
          <p:cNvSpPr/>
          <p:nvPr/>
        </p:nvSpPr>
        <p:spPr>
          <a:xfrm>
            <a:off x="3227832" y="1600200"/>
            <a:ext cx="2743200" cy="1508760"/>
          </a:xfrm>
          <a:prstGeom prst="roundRect">
            <a:avLst>
              <a:gd name="adj" fmla="val 7273"/>
            </a:avLst>
          </a:prstGeom>
          <a:solidFill>
            <a:srgbClr val="222840"/>
          </a:solidFill>
          <a:ln/>
          <a:effectLst>
            <a:outerShdw sx="100000" sy="100000" kx="0" ky="0" algn="bl" rotWithShape="0" blurRad="101600" dist="38100" dir="2700000">
              <a:srgbClr val="000000">
                <a:alpha val="25000"/>
              </a:srgbClr>
            </a:outerShdw>
          </a:effectLst>
        </p:spPr>
      </p:sp>
      <p:sp>
        <p:nvSpPr>
          <p:cNvPr id="10" name="Text 8"/>
          <p:cNvSpPr/>
          <p:nvPr/>
        </p:nvSpPr>
        <p:spPr>
          <a:xfrm>
            <a:off x="3392424" y="1709928"/>
            <a:ext cx="2414016" cy="329184"/>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IA Conversacional</a:t>
            </a:r>
            <a:endParaRPr lang="en-US" sz="1300" dirty="0"/>
          </a:p>
        </p:txBody>
      </p:sp>
      <p:sp>
        <p:nvSpPr>
          <p:cNvPr id="11" name="Text 9"/>
          <p:cNvSpPr/>
          <p:nvPr/>
        </p:nvSpPr>
        <p:spPr>
          <a:xfrm>
            <a:off x="3392424" y="2075688"/>
            <a:ext cx="2414016" cy="92354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Qwen3-8B cuantizado via llama.cpp.</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Respuestas en espanol, sin API keys.</a:t>
            </a:r>
            <a:endParaRPr lang="en-US" sz="1200" dirty="0"/>
          </a:p>
        </p:txBody>
      </p:sp>
      <p:sp>
        <p:nvSpPr>
          <p:cNvPr id="12" name="Shape 10"/>
          <p:cNvSpPr/>
          <p:nvPr/>
        </p:nvSpPr>
        <p:spPr>
          <a:xfrm>
            <a:off x="6181344" y="1600200"/>
            <a:ext cx="2743200" cy="1508760"/>
          </a:xfrm>
          <a:prstGeom prst="roundRect">
            <a:avLst>
              <a:gd name="adj" fmla="val 7273"/>
            </a:avLst>
          </a:prstGeom>
          <a:solidFill>
            <a:srgbClr val="222840"/>
          </a:solidFill>
          <a:ln/>
          <a:effectLst>
            <a:outerShdw sx="100000" sy="100000" kx="0" ky="0" algn="bl" rotWithShape="0" blurRad="101600" dist="38100" dir="2700000">
              <a:srgbClr val="000000">
                <a:alpha val="25000"/>
              </a:srgbClr>
            </a:outerShdw>
          </a:effectLst>
        </p:spPr>
      </p:sp>
      <p:sp>
        <p:nvSpPr>
          <p:cNvPr id="13" name="Text 11"/>
          <p:cNvSpPr/>
          <p:nvPr/>
        </p:nvSpPr>
        <p:spPr>
          <a:xfrm>
            <a:off x="6345936" y="1709928"/>
            <a:ext cx="2414016" cy="329184"/>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TTS Natural</a:t>
            </a:r>
            <a:endParaRPr lang="en-US" sz="1300" dirty="0"/>
          </a:p>
        </p:txBody>
      </p:sp>
      <p:sp>
        <p:nvSpPr>
          <p:cNvPr id="14" name="Text 12"/>
          <p:cNvSpPr/>
          <p:nvPr/>
        </p:nvSpPr>
        <p:spPr>
          <a:xfrm>
            <a:off x="6345936" y="2075688"/>
            <a:ext cx="2414016" cy="92354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pyttsx3 (offline) o Qwen3-TTS (GPU)</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Voz natural sin latencia de red.</a:t>
            </a:r>
            <a:endParaRPr lang="en-US" sz="1200" dirty="0"/>
          </a:p>
        </p:txBody>
      </p:sp>
      <p:sp>
        <p:nvSpPr>
          <p:cNvPr id="15" name="Shape 13"/>
          <p:cNvSpPr/>
          <p:nvPr/>
        </p:nvSpPr>
        <p:spPr>
          <a:xfrm>
            <a:off x="274320" y="3291840"/>
            <a:ext cx="2743200" cy="1508760"/>
          </a:xfrm>
          <a:prstGeom prst="roundRect">
            <a:avLst>
              <a:gd name="adj" fmla="val 7273"/>
            </a:avLst>
          </a:prstGeom>
          <a:solidFill>
            <a:srgbClr val="222840"/>
          </a:solidFill>
          <a:ln/>
          <a:effectLst>
            <a:outerShdw sx="100000" sy="100000" kx="0" ky="0" algn="bl" rotWithShape="0" blurRad="101600" dist="38100" dir="2700000">
              <a:srgbClr val="000000">
                <a:alpha val="25000"/>
              </a:srgbClr>
            </a:outerShdw>
          </a:effectLst>
        </p:spPr>
      </p:sp>
      <p:sp>
        <p:nvSpPr>
          <p:cNvPr id="16" name="Text 14"/>
          <p:cNvSpPr/>
          <p:nvPr/>
        </p:nvSpPr>
        <p:spPr>
          <a:xfrm>
            <a:off x="438912" y="3401568"/>
            <a:ext cx="2414016" cy="329184"/>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Control de Escritorio</a:t>
            </a:r>
            <a:endParaRPr lang="en-US" sz="1300" dirty="0"/>
          </a:p>
        </p:txBody>
      </p:sp>
      <p:sp>
        <p:nvSpPr>
          <p:cNvPr id="17" name="Text 15"/>
          <p:cNvSpPr/>
          <p:nvPr/>
        </p:nvSpPr>
        <p:spPr>
          <a:xfrm>
            <a:off x="438912" y="3767328"/>
            <a:ext cx="2414016" cy="92354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Abre apps, cierra ventanas, lee contenido.</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Resuelve referencias implicitas.</a:t>
            </a:r>
            <a:endParaRPr lang="en-US" sz="1200" dirty="0"/>
          </a:p>
        </p:txBody>
      </p:sp>
      <p:sp>
        <p:nvSpPr>
          <p:cNvPr id="18" name="Shape 16"/>
          <p:cNvSpPr/>
          <p:nvPr/>
        </p:nvSpPr>
        <p:spPr>
          <a:xfrm>
            <a:off x="3227832" y="3291840"/>
            <a:ext cx="2743200" cy="1508760"/>
          </a:xfrm>
          <a:prstGeom prst="roundRect">
            <a:avLst>
              <a:gd name="adj" fmla="val 7273"/>
            </a:avLst>
          </a:prstGeom>
          <a:solidFill>
            <a:srgbClr val="222840"/>
          </a:solidFill>
          <a:ln/>
          <a:effectLst>
            <a:outerShdw sx="100000" sy="100000" kx="0" ky="0" algn="bl" rotWithShape="0" blurRad="101600" dist="38100" dir="2700000">
              <a:srgbClr val="000000">
                <a:alpha val="25000"/>
              </a:srgbClr>
            </a:outerShdw>
          </a:effectLst>
        </p:spPr>
      </p:sp>
      <p:sp>
        <p:nvSpPr>
          <p:cNvPr id="19" name="Text 17"/>
          <p:cNvSpPr/>
          <p:nvPr/>
        </p:nvSpPr>
        <p:spPr>
          <a:xfrm>
            <a:off x="3392424" y="3401568"/>
            <a:ext cx="2414016" cy="329184"/>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Gestión de Agenda</a:t>
            </a:r>
            <a:endParaRPr lang="en-US" sz="1300" dirty="0"/>
          </a:p>
        </p:txBody>
      </p:sp>
      <p:sp>
        <p:nvSpPr>
          <p:cNvPr id="20" name="Text 18"/>
          <p:cNvSpPr/>
          <p:nvPr/>
        </p:nvSpPr>
        <p:spPr>
          <a:xfrm>
            <a:off x="3392424" y="3767328"/>
            <a:ext cx="2414016" cy="92354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Eventos, alarmas, tareas y notas.</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Compatible con NebulaNotes.</a:t>
            </a:r>
            <a:endParaRPr lang="en-US" sz="1200" dirty="0"/>
          </a:p>
        </p:txBody>
      </p:sp>
      <p:sp>
        <p:nvSpPr>
          <p:cNvPr id="21" name="Shape 19"/>
          <p:cNvSpPr/>
          <p:nvPr/>
        </p:nvSpPr>
        <p:spPr>
          <a:xfrm>
            <a:off x="6181344" y="3291840"/>
            <a:ext cx="2743200" cy="1508760"/>
          </a:xfrm>
          <a:prstGeom prst="roundRect">
            <a:avLst>
              <a:gd name="adj" fmla="val 7273"/>
            </a:avLst>
          </a:prstGeom>
          <a:solidFill>
            <a:srgbClr val="222840"/>
          </a:solidFill>
          <a:ln/>
          <a:effectLst>
            <a:outerShdw sx="100000" sy="100000" kx="0" ky="0" algn="bl" rotWithShape="0" blurRad="101600" dist="38100" dir="2700000">
              <a:srgbClr val="000000">
                <a:alpha val="25000"/>
              </a:srgbClr>
            </a:outerShdw>
          </a:effectLst>
        </p:spPr>
      </p:sp>
      <p:sp>
        <p:nvSpPr>
          <p:cNvPr id="22" name="Text 20"/>
          <p:cNvSpPr/>
          <p:nvPr/>
        </p:nvSpPr>
        <p:spPr>
          <a:xfrm>
            <a:off x="6345936" y="3401568"/>
            <a:ext cx="2414016" cy="329184"/>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Clima + Web</a:t>
            </a:r>
            <a:endParaRPr lang="en-US" sz="1300" dirty="0"/>
          </a:p>
        </p:txBody>
      </p:sp>
      <p:sp>
        <p:nvSpPr>
          <p:cNvPr id="23" name="Text 21"/>
          <p:cNvSpPr/>
          <p:nvPr/>
        </p:nvSpPr>
        <p:spPr>
          <a:xfrm>
            <a:off x="6345936" y="3767328"/>
            <a:ext cx="2414016" cy="92354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Clima via Open-Meteo (sin API key).</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Busqueda Google + YouTube.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220"/>
        </a:solidFill>
      </p:bgPr>
    </p:bg>
    <p:spTree>
      <p:nvGrpSpPr>
        <p:cNvPr id="1" name=""/>
        <p:cNvGrpSpPr/>
        <p:nvPr/>
      </p:nvGrpSpPr>
      <p:grpSpPr>
        <a:xfrm>
          <a:off x="0" y="0"/>
          <a:ext cx="0" cy="0"/>
          <a:chOff x="0" y="0"/>
          <a:chExt cx="0" cy="0"/>
        </a:xfrm>
      </p:grpSpPr>
      <p:sp>
        <p:nvSpPr>
          <p:cNvPr id="2" name="Shape 0"/>
          <p:cNvSpPr/>
          <p:nvPr/>
        </p:nvSpPr>
        <p:spPr>
          <a:xfrm>
            <a:off x="1828800" y="457200"/>
            <a:ext cx="5486400" cy="5486400"/>
          </a:xfrm>
          <a:prstGeom prst="ellipse">
            <a:avLst/>
          </a:prstGeom>
          <a:solidFill>
            <a:srgbClr val="7C5CFF">
              <a:alpha val="8000"/>
            </a:srgbClr>
          </a:solidFill>
          <a:ln w="12700">
            <a:solidFill>
              <a:srgbClr val="7C5CFF">
                <a:alpha val="8000"/>
              </a:srgbClr>
            </a:solidFill>
            <a:prstDash val="solid"/>
          </a:ln>
        </p:spPr>
      </p:sp>
      <p:sp>
        <p:nvSpPr>
          <p:cNvPr id="3" name="Text 1"/>
          <p:cNvSpPr/>
          <p:nvPr/>
        </p:nvSpPr>
        <p:spPr>
          <a:xfrm>
            <a:off x="457200" y="1280160"/>
            <a:ext cx="8229600" cy="1280160"/>
          </a:xfrm>
          <a:prstGeom prst="rect">
            <a:avLst/>
          </a:prstGeom>
          <a:noFill/>
          <a:ln/>
        </p:spPr>
        <p:txBody>
          <a:bodyPr wrap="square" rtlCol="0" anchor="ctr"/>
          <a:lstStyle/>
          <a:p>
            <a:pPr algn="ctr" indent="0" marL="0">
              <a:buNone/>
            </a:pPr>
            <a:r>
              <a:rPr lang="en-US" sz="5400" b="1" spc="400" kern="0" dirty="0">
                <a:solidFill>
                  <a:srgbClr val="FFFFFF"/>
                </a:solidFill>
                <a:latin typeface="Calibri" pitchFamily="34" charset="0"/>
                <a:ea typeface="Calibri" pitchFamily="34" charset="-122"/>
                <a:cs typeface="Calibri" pitchFamily="34" charset="-120"/>
              </a:rPr>
              <a:t>⏵  DEMO EN VIVO</a:t>
            </a:r>
            <a:endParaRPr lang="en-US" sz="5400" dirty="0"/>
          </a:p>
        </p:txBody>
      </p:sp>
      <p:sp>
        <p:nvSpPr>
          <p:cNvPr id="4" name="Text 2"/>
          <p:cNvSpPr/>
          <p:nvPr/>
        </p:nvSpPr>
        <p:spPr>
          <a:xfrm>
            <a:off x="457200" y="2743200"/>
            <a:ext cx="8229600" cy="502920"/>
          </a:xfrm>
          <a:prstGeom prst="rect">
            <a:avLst/>
          </a:prstGeom>
          <a:noFill/>
          <a:ln/>
        </p:spPr>
        <p:txBody>
          <a:bodyPr wrap="square" rtlCol="0" anchor="ctr"/>
          <a:lstStyle/>
          <a:p>
            <a:pPr algn="ctr" indent="0" marL="0">
              <a:buNone/>
            </a:pPr>
            <a:r>
              <a:rPr lang="en-US" sz="1500" dirty="0">
                <a:solidFill>
                  <a:srgbClr val="4CC9F0"/>
                </a:solidFill>
                <a:latin typeface="Calibri" pitchFamily="34" charset="0"/>
                <a:ea typeface="Calibri" pitchFamily="34" charset="-122"/>
                <a:cs typeface="Calibri" pitchFamily="34" charset="-120"/>
              </a:rPr>
              <a:t>Decir: 'Sofia, buenos dias'  ·  'Sofia, que clima hay en Ibague'  ·  'Sofia, abre el bloc de notas'</a:t>
            </a:r>
            <a:endParaRPr lang="en-US" sz="1500" dirty="0"/>
          </a:p>
        </p:txBody>
      </p:sp>
      <p:sp>
        <p:nvSpPr>
          <p:cNvPr id="5" name="Text 3"/>
          <p:cNvSpPr/>
          <p:nvPr/>
        </p:nvSpPr>
        <p:spPr>
          <a:xfrm>
            <a:off x="457200" y="3429000"/>
            <a:ext cx="8229600" cy="365760"/>
          </a:xfrm>
          <a:prstGeom prst="rect">
            <a:avLst/>
          </a:prstGeom>
          <a:noFill/>
          <a:ln/>
        </p:spPr>
        <p:txBody>
          <a:bodyPr wrap="square" rtlCol="0" anchor="ctr"/>
          <a:lstStyle/>
          <a:p>
            <a:pPr algn="ctr" indent="0" marL="0">
              <a:buNone/>
            </a:pPr>
            <a:r>
              <a:rPr lang="en-US" sz="1600" i="1" dirty="0">
                <a:solidFill>
                  <a:srgbClr val="5A6480"/>
                </a:solidFill>
                <a:latin typeface="Calibri" pitchFamily="34" charset="0"/>
                <a:ea typeface="Calibri" pitchFamily="34" charset="-122"/>
                <a:cs typeface="Calibri" pitchFamily="34" charset="-120"/>
              </a:rPr>
              <a:t>[ Activar SOFIA en el equipo ]</a:t>
            </a:r>
            <a:endParaRPr lang="en-US" sz="1600" dirty="0"/>
          </a:p>
        </p:txBody>
      </p:sp>
      <p:sp>
        <p:nvSpPr>
          <p:cNvPr id="6" name="Text 4"/>
          <p:cNvSpPr/>
          <p:nvPr/>
        </p:nvSpPr>
        <p:spPr>
          <a:xfrm>
            <a:off x="457200" y="4434840"/>
            <a:ext cx="8229600" cy="320040"/>
          </a:xfrm>
          <a:prstGeom prst="rect">
            <a:avLst/>
          </a:prstGeom>
          <a:noFill/>
          <a:ln/>
        </p:spPr>
        <p:txBody>
          <a:bodyPr wrap="square" rtlCol="0" anchor="ctr"/>
          <a:lstStyle/>
          <a:p>
            <a:pPr algn="ctr" indent="0" marL="0">
              <a:buNone/>
            </a:pPr>
            <a:r>
              <a:rPr lang="en-US" sz="1300" dirty="0">
                <a:solidFill>
                  <a:srgbClr val="5A6480"/>
                </a:solidFill>
              </a:rPr>
              <a:t>5 minutos de demostracion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Como Funciona: Pipeline de Voz</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5 / 19</a:t>
            </a:r>
            <a:endParaRPr lang="en-US" sz="1000" dirty="0"/>
          </a:p>
        </p:txBody>
      </p:sp>
      <p:sp>
        <p:nvSpPr>
          <p:cNvPr id="5" name="Shape 3"/>
          <p:cNvSpPr/>
          <p:nvPr/>
        </p:nvSpPr>
        <p:spPr>
          <a:xfrm>
            <a:off x="228600" y="1463040"/>
            <a:ext cx="1078992" cy="1508760"/>
          </a:xfrm>
          <a:prstGeom prst="roundRect">
            <a:avLst>
              <a:gd name="adj" fmla="val 8475"/>
            </a:avLst>
          </a:prstGeom>
          <a:solidFill>
            <a:srgbClr val="222840"/>
          </a:solidFill>
          <a:ln/>
          <a:effectLst>
            <a:outerShdw sx="100000" sy="100000" kx="0" ky="0" algn="bl" rotWithShape="0" blurRad="101600" dist="38100" dir="2700000">
              <a:srgbClr val="000000">
                <a:alpha val="25000"/>
              </a:srgbClr>
            </a:outerShdw>
          </a:effectLst>
        </p:spPr>
      </p:sp>
      <p:sp>
        <p:nvSpPr>
          <p:cNvPr id="6" name="Text 4"/>
          <p:cNvSpPr/>
          <p:nvPr/>
        </p:nvSpPr>
        <p:spPr>
          <a:xfrm>
            <a:off x="228600" y="1463040"/>
            <a:ext cx="1078992" cy="1508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Microfono</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16kHz</a:t>
            </a:r>
            <a:endParaRPr lang="en-US" sz="1100" dirty="0"/>
          </a:p>
        </p:txBody>
      </p:sp>
      <p:sp>
        <p:nvSpPr>
          <p:cNvPr id="7" name="Shape 5"/>
          <p:cNvSpPr/>
          <p:nvPr/>
        </p:nvSpPr>
        <p:spPr>
          <a:xfrm>
            <a:off x="1307592" y="2189988"/>
            <a:ext cx="173736" cy="54864"/>
          </a:xfrm>
          <a:prstGeom prst="rect">
            <a:avLst/>
          </a:prstGeom>
          <a:solidFill>
            <a:srgbClr val="5A6480"/>
          </a:solidFill>
          <a:ln w="12700">
            <a:solidFill>
              <a:srgbClr val="5A6480"/>
            </a:solidFill>
            <a:prstDash val="solid"/>
          </a:ln>
        </p:spPr>
      </p:sp>
      <p:sp>
        <p:nvSpPr>
          <p:cNvPr id="8" name="Shape 6"/>
          <p:cNvSpPr/>
          <p:nvPr/>
        </p:nvSpPr>
        <p:spPr>
          <a:xfrm>
            <a:off x="1481328" y="1463040"/>
            <a:ext cx="1078992" cy="1508760"/>
          </a:xfrm>
          <a:prstGeom prst="roundRect">
            <a:avLst>
              <a:gd name="adj" fmla="val 8475"/>
            </a:avLst>
          </a:prstGeom>
          <a:solidFill>
            <a:srgbClr val="222840"/>
          </a:solidFill>
          <a:ln/>
          <a:effectLst>
            <a:outerShdw sx="100000" sy="100000" kx="0" ky="0" algn="bl" rotWithShape="0" blurRad="101600" dist="38100" dir="2700000">
              <a:srgbClr val="000000">
                <a:alpha val="25000"/>
              </a:srgbClr>
            </a:outerShdw>
          </a:effectLst>
        </p:spPr>
      </p:sp>
      <p:sp>
        <p:nvSpPr>
          <p:cNvPr id="9" name="Text 7"/>
          <p:cNvSpPr/>
          <p:nvPr/>
        </p:nvSpPr>
        <p:spPr>
          <a:xfrm>
            <a:off x="1481328" y="1463040"/>
            <a:ext cx="1078992" cy="1508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Silero-VAD</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(CPU)</a:t>
            </a:r>
            <a:endParaRPr lang="en-US" sz="1100" dirty="0"/>
          </a:p>
        </p:txBody>
      </p:sp>
      <p:sp>
        <p:nvSpPr>
          <p:cNvPr id="10" name="Shape 8"/>
          <p:cNvSpPr/>
          <p:nvPr/>
        </p:nvSpPr>
        <p:spPr>
          <a:xfrm>
            <a:off x="2560320" y="2189988"/>
            <a:ext cx="173736" cy="54864"/>
          </a:xfrm>
          <a:prstGeom prst="rect">
            <a:avLst/>
          </a:prstGeom>
          <a:solidFill>
            <a:srgbClr val="5A6480"/>
          </a:solidFill>
          <a:ln w="12700">
            <a:solidFill>
              <a:srgbClr val="5A6480"/>
            </a:solidFill>
            <a:prstDash val="solid"/>
          </a:ln>
        </p:spPr>
      </p:sp>
      <p:sp>
        <p:nvSpPr>
          <p:cNvPr id="11" name="Shape 9"/>
          <p:cNvSpPr/>
          <p:nvPr/>
        </p:nvSpPr>
        <p:spPr>
          <a:xfrm>
            <a:off x="2734056" y="1463040"/>
            <a:ext cx="1078992" cy="1508760"/>
          </a:xfrm>
          <a:prstGeom prst="roundRect">
            <a:avLst>
              <a:gd name="adj" fmla="val 8475"/>
            </a:avLst>
          </a:prstGeom>
          <a:solidFill>
            <a:srgbClr val="7C5CFF"/>
          </a:solidFill>
          <a:ln/>
          <a:effectLst>
            <a:outerShdw sx="100000" sy="100000" kx="0" ky="0" algn="bl" rotWithShape="0" blurRad="101600" dist="38100" dir="2700000">
              <a:srgbClr val="000000">
                <a:alpha val="25000"/>
              </a:srgbClr>
            </a:outerShdw>
          </a:effectLst>
        </p:spPr>
      </p:sp>
      <p:sp>
        <p:nvSpPr>
          <p:cNvPr id="12" name="Text 10"/>
          <p:cNvSpPr/>
          <p:nvPr/>
        </p:nvSpPr>
        <p:spPr>
          <a:xfrm>
            <a:off x="2734056" y="1463040"/>
            <a:ext cx="1078992" cy="1508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Whisper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'tiny'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Wake-word</a:t>
            </a:r>
            <a:endParaRPr lang="en-US" sz="1100" dirty="0"/>
          </a:p>
        </p:txBody>
      </p:sp>
      <p:sp>
        <p:nvSpPr>
          <p:cNvPr id="13" name="Shape 11"/>
          <p:cNvSpPr/>
          <p:nvPr/>
        </p:nvSpPr>
        <p:spPr>
          <a:xfrm>
            <a:off x="3813048" y="2189988"/>
            <a:ext cx="173736" cy="54864"/>
          </a:xfrm>
          <a:prstGeom prst="rect">
            <a:avLst/>
          </a:prstGeom>
          <a:solidFill>
            <a:srgbClr val="5A6480"/>
          </a:solidFill>
          <a:ln w="12700">
            <a:solidFill>
              <a:srgbClr val="5A6480"/>
            </a:solidFill>
            <a:prstDash val="solid"/>
          </a:ln>
        </p:spPr>
      </p:sp>
      <p:sp>
        <p:nvSpPr>
          <p:cNvPr id="14" name="Shape 12"/>
          <p:cNvSpPr/>
          <p:nvPr/>
        </p:nvSpPr>
        <p:spPr>
          <a:xfrm>
            <a:off x="3986784" y="1463040"/>
            <a:ext cx="1078992" cy="1508760"/>
          </a:xfrm>
          <a:prstGeom prst="roundRect">
            <a:avLst>
              <a:gd name="adj" fmla="val 8475"/>
            </a:avLst>
          </a:prstGeom>
          <a:solidFill>
            <a:srgbClr val="222840"/>
          </a:solidFill>
          <a:ln/>
          <a:effectLst>
            <a:outerShdw sx="100000" sy="100000" kx="0" ky="0" algn="bl" rotWithShape="0" blurRad="101600" dist="38100" dir="2700000">
              <a:srgbClr val="000000">
                <a:alpha val="25000"/>
              </a:srgbClr>
            </a:outerShdw>
          </a:effectLst>
        </p:spPr>
      </p:sp>
      <p:sp>
        <p:nvSpPr>
          <p:cNvPr id="15" name="Text 13"/>
          <p:cNvSpPr/>
          <p:nvPr/>
        </p:nvSpPr>
        <p:spPr>
          <a:xfrm>
            <a:off x="3986784" y="1463040"/>
            <a:ext cx="1078992" cy="1508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'Dime'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(audio .wav</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pre-render)</a:t>
            </a:r>
            <a:endParaRPr lang="en-US" sz="1100" dirty="0"/>
          </a:p>
        </p:txBody>
      </p:sp>
      <p:sp>
        <p:nvSpPr>
          <p:cNvPr id="16" name="Shape 14"/>
          <p:cNvSpPr/>
          <p:nvPr/>
        </p:nvSpPr>
        <p:spPr>
          <a:xfrm>
            <a:off x="5065776" y="2189988"/>
            <a:ext cx="173736" cy="54864"/>
          </a:xfrm>
          <a:prstGeom prst="rect">
            <a:avLst/>
          </a:prstGeom>
          <a:solidFill>
            <a:srgbClr val="5A6480"/>
          </a:solidFill>
          <a:ln w="12700">
            <a:solidFill>
              <a:srgbClr val="5A6480"/>
            </a:solidFill>
            <a:prstDash val="solid"/>
          </a:ln>
        </p:spPr>
      </p:sp>
      <p:sp>
        <p:nvSpPr>
          <p:cNvPr id="17" name="Shape 15"/>
          <p:cNvSpPr/>
          <p:nvPr/>
        </p:nvSpPr>
        <p:spPr>
          <a:xfrm>
            <a:off x="5239512" y="1463040"/>
            <a:ext cx="1078992" cy="1508760"/>
          </a:xfrm>
          <a:prstGeom prst="roundRect">
            <a:avLst>
              <a:gd name="adj" fmla="val 8475"/>
            </a:avLst>
          </a:prstGeom>
          <a:solidFill>
            <a:srgbClr val="7C5CFF"/>
          </a:solidFill>
          <a:ln/>
          <a:effectLst>
            <a:outerShdw sx="100000" sy="100000" kx="0" ky="0" algn="bl" rotWithShape="0" blurRad="101600" dist="38100" dir="2700000">
              <a:srgbClr val="000000">
                <a:alpha val="25000"/>
              </a:srgbClr>
            </a:outerShdw>
          </a:effectLst>
        </p:spPr>
      </p:sp>
      <p:sp>
        <p:nvSpPr>
          <p:cNvPr id="18" name="Text 16"/>
          <p:cNvSpPr/>
          <p:nvPr/>
        </p:nvSpPr>
        <p:spPr>
          <a:xfrm>
            <a:off x="5239512" y="1463040"/>
            <a:ext cx="1078992" cy="1508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Whisper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Comando</a:t>
            </a:r>
            <a:endParaRPr lang="en-US" sz="1100" dirty="0"/>
          </a:p>
        </p:txBody>
      </p:sp>
      <p:sp>
        <p:nvSpPr>
          <p:cNvPr id="19" name="Shape 17"/>
          <p:cNvSpPr/>
          <p:nvPr/>
        </p:nvSpPr>
        <p:spPr>
          <a:xfrm>
            <a:off x="6318504" y="2189988"/>
            <a:ext cx="173736" cy="54864"/>
          </a:xfrm>
          <a:prstGeom prst="rect">
            <a:avLst/>
          </a:prstGeom>
          <a:solidFill>
            <a:srgbClr val="5A6480"/>
          </a:solidFill>
          <a:ln w="12700">
            <a:solidFill>
              <a:srgbClr val="5A6480"/>
            </a:solidFill>
            <a:prstDash val="solid"/>
          </a:ln>
        </p:spPr>
      </p:sp>
      <p:sp>
        <p:nvSpPr>
          <p:cNvPr id="20" name="Shape 18"/>
          <p:cNvSpPr/>
          <p:nvPr/>
        </p:nvSpPr>
        <p:spPr>
          <a:xfrm>
            <a:off x="6492240" y="1463040"/>
            <a:ext cx="1078992" cy="1508760"/>
          </a:xfrm>
          <a:prstGeom prst="roundRect">
            <a:avLst>
              <a:gd name="adj" fmla="val 8475"/>
            </a:avLst>
          </a:prstGeom>
          <a:solidFill>
            <a:srgbClr val="7C5CFF"/>
          </a:solidFill>
          <a:ln/>
          <a:effectLst>
            <a:outerShdw sx="100000" sy="100000" kx="0" ky="0" algn="bl" rotWithShape="0" blurRad="101600" dist="38100" dir="2700000">
              <a:srgbClr val="000000">
                <a:alpha val="25000"/>
              </a:srgbClr>
            </a:outerShdw>
          </a:effectLst>
        </p:spPr>
      </p:sp>
      <p:sp>
        <p:nvSpPr>
          <p:cNvPr id="21" name="Text 19"/>
          <p:cNvSpPr/>
          <p:nvPr/>
        </p:nvSpPr>
        <p:spPr>
          <a:xfrm>
            <a:off x="6492240" y="1463040"/>
            <a:ext cx="1078992" cy="1508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Router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Skills</a:t>
            </a:r>
            <a:endParaRPr lang="en-US" sz="1100" dirty="0"/>
          </a:p>
        </p:txBody>
      </p:sp>
      <p:sp>
        <p:nvSpPr>
          <p:cNvPr id="22" name="Shape 20"/>
          <p:cNvSpPr/>
          <p:nvPr/>
        </p:nvSpPr>
        <p:spPr>
          <a:xfrm>
            <a:off x="7571232" y="2189988"/>
            <a:ext cx="173736" cy="54864"/>
          </a:xfrm>
          <a:prstGeom prst="rect">
            <a:avLst/>
          </a:prstGeom>
          <a:solidFill>
            <a:srgbClr val="5A6480"/>
          </a:solidFill>
          <a:ln w="12700">
            <a:solidFill>
              <a:srgbClr val="5A6480"/>
            </a:solidFill>
            <a:prstDash val="solid"/>
          </a:ln>
        </p:spPr>
      </p:sp>
      <p:sp>
        <p:nvSpPr>
          <p:cNvPr id="23" name="Shape 21"/>
          <p:cNvSpPr/>
          <p:nvPr/>
        </p:nvSpPr>
        <p:spPr>
          <a:xfrm>
            <a:off x="7744968" y="1463040"/>
            <a:ext cx="1078992" cy="1508760"/>
          </a:xfrm>
          <a:prstGeom prst="roundRect">
            <a:avLst>
              <a:gd name="adj" fmla="val 8475"/>
            </a:avLst>
          </a:prstGeom>
          <a:solidFill>
            <a:srgbClr val="222840"/>
          </a:solidFill>
          <a:ln/>
          <a:effectLst>
            <a:outerShdw sx="100000" sy="100000" kx="0" ky="0" algn="bl" rotWithShape="0" blurRad="101600" dist="38100" dir="2700000">
              <a:srgbClr val="000000">
                <a:alpha val="25000"/>
              </a:srgbClr>
            </a:outerShdw>
          </a:effectLst>
        </p:spPr>
      </p:sp>
      <p:sp>
        <p:nvSpPr>
          <p:cNvPr id="24" name="Text 22"/>
          <p:cNvSpPr/>
          <p:nvPr/>
        </p:nvSpPr>
        <p:spPr>
          <a:xfrm>
            <a:off x="7744968" y="1463040"/>
            <a:ext cx="1078992" cy="1508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TTS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(voz)</a:t>
            </a:r>
            <a:endParaRPr lang="en-US" sz="1100" dirty="0"/>
          </a:p>
        </p:txBody>
      </p:sp>
      <p:sp>
        <p:nvSpPr>
          <p:cNvPr id="25" name="Text 23"/>
          <p:cNvSpPr/>
          <p:nvPr/>
        </p:nvSpPr>
        <p:spPr>
          <a:xfrm>
            <a:off x="228600" y="3154680"/>
            <a:ext cx="1188720" cy="320040"/>
          </a:xfrm>
          <a:prstGeom prst="rect">
            <a:avLst/>
          </a:prstGeom>
          <a:noFill/>
          <a:ln/>
        </p:spPr>
        <p:txBody>
          <a:bodyPr wrap="square" rtlCol="0" anchor="ctr"/>
          <a:lstStyle/>
          <a:p>
            <a:pPr algn="ctr" indent="0" marL="0">
              <a:buNone/>
            </a:pPr>
            <a:r>
              <a:rPr lang="en-US" sz="900" dirty="0">
                <a:solidFill>
                  <a:srgbClr val="4CC9F0"/>
                </a:solidFill>
              </a:rPr>
              <a:t>Chunks 512 muestras</a:t>
            </a:r>
            <a:endParaRPr lang="en-US" sz="900" dirty="0"/>
          </a:p>
        </p:txBody>
      </p:sp>
      <p:sp>
        <p:nvSpPr>
          <p:cNvPr id="26" name="Text 24"/>
          <p:cNvSpPr/>
          <p:nvPr/>
        </p:nvSpPr>
        <p:spPr>
          <a:xfrm>
            <a:off x="1481328" y="3154680"/>
            <a:ext cx="1188720" cy="320040"/>
          </a:xfrm>
          <a:prstGeom prst="rect">
            <a:avLst/>
          </a:prstGeom>
          <a:noFill/>
          <a:ln/>
        </p:spPr>
        <p:txBody>
          <a:bodyPr wrap="square" rtlCol="0" anchor="ctr"/>
          <a:lstStyle/>
          <a:p>
            <a:pPr algn="ctr" indent="0" marL="0">
              <a:buNone/>
            </a:pPr>
            <a:r>
              <a:rPr lang="en-US" sz="900" dirty="0">
                <a:solidFill>
                  <a:srgbClr val="4CC9F0"/>
                </a:solidFill>
              </a:rPr>
              <a:t>Filtra silencio</a:t>
            </a:r>
            <a:endParaRPr lang="en-US" sz="900" dirty="0"/>
          </a:p>
        </p:txBody>
      </p:sp>
      <p:sp>
        <p:nvSpPr>
          <p:cNvPr id="27" name="Text 25"/>
          <p:cNvSpPr/>
          <p:nvPr/>
        </p:nvSpPr>
        <p:spPr>
          <a:xfrm>
            <a:off x="2734056" y="3154680"/>
            <a:ext cx="1188720" cy="320040"/>
          </a:xfrm>
          <a:prstGeom prst="rect">
            <a:avLst/>
          </a:prstGeom>
          <a:noFill/>
          <a:ln/>
        </p:spPr>
        <p:txBody>
          <a:bodyPr wrap="square" rtlCol="0" anchor="ctr"/>
          <a:lstStyle/>
          <a:p>
            <a:pPr algn="ctr" indent="0" marL="0">
              <a:buNone/>
            </a:pPr>
            <a:r>
              <a:rPr lang="en-US" sz="900" dirty="0">
                <a:solidFill>
                  <a:srgbClr val="4CC9F0"/>
                </a:solidFill>
              </a:rPr>
              <a:t>Levenshtein difuso</a:t>
            </a:r>
            <a:endParaRPr lang="en-US" sz="900" dirty="0"/>
          </a:p>
        </p:txBody>
      </p:sp>
      <p:sp>
        <p:nvSpPr>
          <p:cNvPr id="28" name="Text 26"/>
          <p:cNvSpPr/>
          <p:nvPr/>
        </p:nvSpPr>
        <p:spPr>
          <a:xfrm>
            <a:off x="3986784" y="3154680"/>
            <a:ext cx="1188720" cy="320040"/>
          </a:xfrm>
          <a:prstGeom prst="rect">
            <a:avLst/>
          </a:prstGeom>
          <a:noFill/>
          <a:ln/>
        </p:spPr>
        <p:txBody>
          <a:bodyPr wrap="square" rtlCol="0" anchor="ctr"/>
          <a:lstStyle/>
          <a:p>
            <a:pPr algn="ctr" indent="0" marL="0">
              <a:buNone/>
            </a:pPr>
            <a:r>
              <a:rPr lang="en-US" sz="900" dirty="0">
                <a:solidFill>
                  <a:srgbClr val="4CC9F0"/>
                </a:solidFill>
              </a:rPr>
              <a:t>Lazy load paralelo</a:t>
            </a:r>
            <a:endParaRPr lang="en-US" sz="900" dirty="0"/>
          </a:p>
        </p:txBody>
      </p:sp>
      <p:sp>
        <p:nvSpPr>
          <p:cNvPr id="29" name="Text 27"/>
          <p:cNvSpPr/>
          <p:nvPr/>
        </p:nvSpPr>
        <p:spPr>
          <a:xfrm>
            <a:off x="5239512" y="3154680"/>
            <a:ext cx="1188720" cy="320040"/>
          </a:xfrm>
          <a:prstGeom prst="rect">
            <a:avLst/>
          </a:prstGeom>
          <a:noFill/>
          <a:ln/>
        </p:spPr>
        <p:txBody>
          <a:bodyPr wrap="square" rtlCol="0" anchor="ctr"/>
          <a:lstStyle/>
          <a:p>
            <a:pPr algn="ctr" indent="0" marL="0">
              <a:buNone/>
            </a:pPr>
            <a:r>
              <a:rPr lang="en-US" sz="900" dirty="0">
                <a:solidFill>
                  <a:srgbClr val="4CC9F0"/>
                </a:solidFill>
              </a:rPr>
              <a:t>Primer match gana</a:t>
            </a:r>
            <a:endParaRPr lang="en-US" sz="900" dirty="0"/>
          </a:p>
        </p:txBody>
      </p:sp>
      <p:sp>
        <p:nvSpPr>
          <p:cNvPr id="30" name="Text 28"/>
          <p:cNvSpPr/>
          <p:nvPr/>
        </p:nvSpPr>
        <p:spPr>
          <a:xfrm>
            <a:off x="6492240" y="3154680"/>
            <a:ext cx="1188720" cy="320040"/>
          </a:xfrm>
          <a:prstGeom prst="rect">
            <a:avLst/>
          </a:prstGeom>
          <a:noFill/>
          <a:ln/>
        </p:spPr>
        <p:txBody>
          <a:bodyPr wrap="square" rtlCol="0" anchor="ctr"/>
          <a:lstStyle/>
          <a:p>
            <a:pPr algn="ctr" indent="0" marL="0">
              <a:buNone/>
            </a:pPr>
            <a:r>
              <a:rPr lang="en-US" sz="900" dirty="0">
                <a:solidFill>
                  <a:srgbClr val="4CC9F0"/>
                </a:solidFill>
              </a:rPr>
              <a:t>pyttsx3 / Qwen3-TTS</a:t>
            </a:r>
            <a:endParaRPr lang="en-US" sz="900" dirty="0"/>
          </a:p>
        </p:txBody>
      </p:sp>
      <p:sp>
        <p:nvSpPr>
          <p:cNvPr id="31" name="Shape 29"/>
          <p:cNvSpPr/>
          <p:nvPr/>
        </p:nvSpPr>
        <p:spPr>
          <a:xfrm>
            <a:off x="228600" y="3611880"/>
            <a:ext cx="8686800" cy="1280160"/>
          </a:xfrm>
          <a:prstGeom prst="roundRect">
            <a:avLst>
              <a:gd name="adj" fmla="val 7143"/>
            </a:avLst>
          </a:prstGeom>
          <a:solidFill>
            <a:srgbClr val="222840"/>
          </a:solidFill>
          <a:ln/>
        </p:spPr>
      </p:sp>
      <p:sp>
        <p:nvSpPr>
          <p:cNvPr id="32" name="Text 30"/>
          <p:cNvSpPr/>
          <p:nvPr/>
        </p:nvSpPr>
        <p:spPr>
          <a:xfrm>
            <a:off x="411480" y="3657600"/>
            <a:ext cx="8321040" cy="118872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Optimizacion clave: </a:t>
            </a:r>
            <a:pPr indent="0" marL="0">
              <a:buNone/>
            </a:pPr>
            <a:r>
              <a:rPr lang="en-US" sz="1300" dirty="0">
                <a:solidFill>
                  <a:srgbClr val="B0BAD0"/>
                </a:solidFill>
                <a:latin typeface="Calibri" pitchFamily="34" charset="0"/>
                <a:ea typeface="Calibri" pitchFamily="34" charset="-122"/>
                <a:cs typeface="Calibri" pitchFamily="34" charset="-120"/>
              </a:rPr>
              <a:t>mientras el usuario habla, Whisper 'base' y Qwen3-TTS se cargan en un hilo de fondo. </a:t>
            </a:r>
            <a:pPr indent="0" marL="0">
              <a:buNone/>
            </a:pPr>
            <a:r>
              <a:rPr lang="en-US" sz="1300" b="1" dirty="0">
                <a:solidFill>
                  <a:srgbClr val="FFFFFF"/>
                </a:solidFill>
                <a:latin typeface="Calibri" pitchFamily="34" charset="0"/>
                <a:ea typeface="Calibri" pitchFamily="34" charset="-122"/>
                <a:cs typeface="Calibri" pitchFamily="34" charset="-120"/>
              </a:rPr>
              <a:t>El usuario NUNCA espera la carga del modelo — el tiempo de carga esta oculto en su tiempo de pronunciacion.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Arquitectura General</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6 / 19</a:t>
            </a:r>
            <a:endParaRPr lang="en-US" sz="1000" dirty="0"/>
          </a:p>
        </p:txBody>
      </p:sp>
      <p:sp>
        <p:nvSpPr>
          <p:cNvPr id="5" name="Shape 3"/>
          <p:cNvSpPr/>
          <p:nvPr/>
        </p:nvSpPr>
        <p:spPr>
          <a:xfrm>
            <a:off x="457200" y="914400"/>
            <a:ext cx="8229600" cy="502920"/>
          </a:xfrm>
          <a:prstGeom prst="roundRect">
            <a:avLst>
              <a:gd name="adj" fmla="val 14545"/>
            </a:avLst>
          </a:prstGeom>
          <a:solidFill>
            <a:srgbClr val="7C5CFF"/>
          </a:solidFill>
          <a:ln/>
        </p:spPr>
      </p:sp>
      <p:sp>
        <p:nvSpPr>
          <p:cNvPr id="6" name="Text 4"/>
          <p:cNvSpPr/>
          <p:nvPr/>
        </p:nvSpPr>
        <p:spPr>
          <a:xfrm>
            <a:off x="457200" y="914400"/>
            <a:ext cx="82296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main.py  (Orquestador)</a:t>
            </a:r>
            <a:endParaRPr lang="en-US" sz="1300" dirty="0"/>
          </a:p>
        </p:txBody>
      </p:sp>
      <p:sp>
        <p:nvSpPr>
          <p:cNvPr id="7" name="Shape 5"/>
          <p:cNvSpPr/>
          <p:nvPr/>
        </p:nvSpPr>
        <p:spPr>
          <a:xfrm>
            <a:off x="457200" y="1508760"/>
            <a:ext cx="8229600" cy="502920"/>
          </a:xfrm>
          <a:prstGeom prst="roundRect">
            <a:avLst>
              <a:gd name="adj" fmla="val 14545"/>
            </a:avLst>
          </a:prstGeom>
          <a:solidFill>
            <a:srgbClr val="222840"/>
          </a:solidFill>
          <a:ln/>
        </p:spPr>
      </p:sp>
      <p:sp>
        <p:nvSpPr>
          <p:cNvPr id="8" name="Text 6"/>
          <p:cNvSpPr/>
          <p:nvPr/>
        </p:nvSpPr>
        <p:spPr>
          <a:xfrm>
            <a:off x="457200" y="1508760"/>
            <a:ext cx="822960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ui/widget.py  (PyQt6 — frameless/translucido)</a:t>
            </a:r>
            <a:endParaRPr lang="en-US" sz="1300" dirty="0"/>
          </a:p>
        </p:txBody>
      </p:sp>
      <p:sp>
        <p:nvSpPr>
          <p:cNvPr id="9" name="Shape 7"/>
          <p:cNvSpPr/>
          <p:nvPr/>
        </p:nvSpPr>
        <p:spPr>
          <a:xfrm>
            <a:off x="457200" y="2103120"/>
            <a:ext cx="3931920" cy="502920"/>
          </a:xfrm>
          <a:prstGeom prst="roundRect">
            <a:avLst>
              <a:gd name="adj" fmla="val 14545"/>
            </a:avLst>
          </a:prstGeom>
          <a:solidFill>
            <a:srgbClr val="222840"/>
          </a:solidFill>
          <a:ln/>
        </p:spPr>
      </p:sp>
      <p:sp>
        <p:nvSpPr>
          <p:cNvPr id="10" name="Text 8"/>
          <p:cNvSpPr/>
          <p:nvPr/>
        </p:nvSpPr>
        <p:spPr>
          <a:xfrm>
            <a:off x="457200" y="2103120"/>
            <a:ext cx="393192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voz/escuchar.py  (VAD + Whisper)</a:t>
            </a:r>
            <a:endParaRPr lang="en-US" sz="1300" dirty="0"/>
          </a:p>
        </p:txBody>
      </p:sp>
      <p:sp>
        <p:nvSpPr>
          <p:cNvPr id="11" name="Shape 9"/>
          <p:cNvSpPr/>
          <p:nvPr/>
        </p:nvSpPr>
        <p:spPr>
          <a:xfrm>
            <a:off x="4754880" y="2103120"/>
            <a:ext cx="3931920" cy="502920"/>
          </a:xfrm>
          <a:prstGeom prst="roundRect">
            <a:avLst>
              <a:gd name="adj" fmla="val 14545"/>
            </a:avLst>
          </a:prstGeom>
          <a:solidFill>
            <a:srgbClr val="222840"/>
          </a:solidFill>
          <a:ln/>
        </p:spPr>
      </p:sp>
      <p:sp>
        <p:nvSpPr>
          <p:cNvPr id="12" name="Text 10"/>
          <p:cNvSpPr/>
          <p:nvPr/>
        </p:nvSpPr>
        <p:spPr>
          <a:xfrm>
            <a:off x="4754880" y="2103120"/>
            <a:ext cx="393192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core/router.py  (Dispatcher)</a:t>
            </a:r>
            <a:endParaRPr lang="en-US" sz="1300" dirty="0"/>
          </a:p>
        </p:txBody>
      </p:sp>
      <p:sp>
        <p:nvSpPr>
          <p:cNvPr id="13" name="Shape 11"/>
          <p:cNvSpPr/>
          <p:nvPr/>
        </p:nvSpPr>
        <p:spPr>
          <a:xfrm>
            <a:off x="457200" y="2176272"/>
            <a:ext cx="1938528" cy="502920"/>
          </a:xfrm>
          <a:prstGeom prst="roundRect">
            <a:avLst>
              <a:gd name="adj" fmla="val 14545"/>
            </a:avLst>
          </a:prstGeom>
          <a:solidFill>
            <a:srgbClr val="222840"/>
          </a:solidFill>
          <a:ln/>
        </p:spPr>
      </p:sp>
      <p:sp>
        <p:nvSpPr>
          <p:cNvPr id="14" name="Text 12"/>
          <p:cNvSpPr/>
          <p:nvPr/>
        </p:nvSpPr>
        <p:spPr>
          <a:xfrm>
            <a:off x="457200" y="2176272"/>
            <a:ext cx="1938528" cy="502920"/>
          </a:xfrm>
          <a:prstGeom prst="rect">
            <a:avLst/>
          </a:prstGeom>
          <a:noFill/>
          <a:ln/>
        </p:spPr>
        <p:txBody>
          <a:bodyPr wrap="square" rtlCol="0" anchor="ctr"/>
          <a:lstStyle/>
          <a:p>
            <a:pPr algn="ctr" indent="0" marL="0">
              <a:buNone/>
            </a:pPr>
            <a:r>
              <a:rPr lang="en-US" sz="1100" dirty="0">
                <a:solidFill>
                  <a:srgbClr val="4CC9F0"/>
                </a:solidFill>
                <a:latin typeface="Calibri" pitchFamily="34" charset="0"/>
                <a:ea typeface="Calibri" pitchFamily="34" charset="-122"/>
                <a:cs typeface="Calibri" pitchFamily="34" charset="-120"/>
              </a:rPr>
              <a:t>rutina</a:t>
            </a:r>
            <a:endParaRPr lang="en-US" sz="1100" dirty="0"/>
          </a:p>
        </p:txBody>
      </p:sp>
      <p:sp>
        <p:nvSpPr>
          <p:cNvPr id="15" name="Shape 13"/>
          <p:cNvSpPr/>
          <p:nvPr/>
        </p:nvSpPr>
        <p:spPr>
          <a:xfrm>
            <a:off x="2514600" y="2176272"/>
            <a:ext cx="1938528" cy="502920"/>
          </a:xfrm>
          <a:prstGeom prst="roundRect">
            <a:avLst>
              <a:gd name="adj" fmla="val 14545"/>
            </a:avLst>
          </a:prstGeom>
          <a:solidFill>
            <a:srgbClr val="222840"/>
          </a:solidFill>
          <a:ln/>
        </p:spPr>
      </p:sp>
      <p:sp>
        <p:nvSpPr>
          <p:cNvPr id="16" name="Text 14"/>
          <p:cNvSpPr/>
          <p:nvPr/>
        </p:nvSpPr>
        <p:spPr>
          <a:xfrm>
            <a:off x="2514600" y="2176272"/>
            <a:ext cx="1938528" cy="502920"/>
          </a:xfrm>
          <a:prstGeom prst="rect">
            <a:avLst/>
          </a:prstGeom>
          <a:noFill/>
          <a:ln/>
        </p:spPr>
        <p:txBody>
          <a:bodyPr wrap="square" rtlCol="0" anchor="ctr"/>
          <a:lstStyle/>
          <a:p>
            <a:pPr algn="ctr" indent="0" marL="0">
              <a:buNone/>
            </a:pPr>
            <a:r>
              <a:rPr lang="en-US" sz="1100" dirty="0">
                <a:solidFill>
                  <a:srgbClr val="4CC9F0"/>
                </a:solidFill>
                <a:latin typeface="Calibri" pitchFamily="34" charset="0"/>
                <a:ea typeface="Calibri" pitchFamily="34" charset="-122"/>
                <a:cs typeface="Calibri" pitchFamily="34" charset="-120"/>
              </a:rPr>
              <a:t>clima</a:t>
            </a:r>
            <a:endParaRPr lang="en-US" sz="1100" dirty="0"/>
          </a:p>
        </p:txBody>
      </p:sp>
      <p:sp>
        <p:nvSpPr>
          <p:cNvPr id="17" name="Shape 15"/>
          <p:cNvSpPr/>
          <p:nvPr/>
        </p:nvSpPr>
        <p:spPr>
          <a:xfrm>
            <a:off x="4572000" y="2176272"/>
            <a:ext cx="1938528" cy="502920"/>
          </a:xfrm>
          <a:prstGeom prst="roundRect">
            <a:avLst>
              <a:gd name="adj" fmla="val 14545"/>
            </a:avLst>
          </a:prstGeom>
          <a:solidFill>
            <a:srgbClr val="222840"/>
          </a:solidFill>
          <a:ln/>
        </p:spPr>
      </p:sp>
      <p:sp>
        <p:nvSpPr>
          <p:cNvPr id="18" name="Text 16"/>
          <p:cNvSpPr/>
          <p:nvPr/>
        </p:nvSpPr>
        <p:spPr>
          <a:xfrm>
            <a:off x="4572000" y="2176272"/>
            <a:ext cx="1938528" cy="502920"/>
          </a:xfrm>
          <a:prstGeom prst="rect">
            <a:avLst/>
          </a:prstGeom>
          <a:noFill/>
          <a:ln/>
        </p:spPr>
        <p:txBody>
          <a:bodyPr wrap="square" rtlCol="0" anchor="ctr"/>
          <a:lstStyle/>
          <a:p>
            <a:pPr algn="ctr" indent="0" marL="0">
              <a:buNone/>
            </a:pPr>
            <a:r>
              <a:rPr lang="en-US" sz="1100" dirty="0">
                <a:solidFill>
                  <a:srgbClr val="4CC9F0"/>
                </a:solidFill>
                <a:latin typeface="Calibri" pitchFamily="34" charset="0"/>
                <a:ea typeface="Calibri" pitchFamily="34" charset="-122"/>
                <a:cs typeface="Calibri" pitchFamily="34" charset="-120"/>
              </a:rPr>
              <a:t>tiempo</a:t>
            </a:r>
            <a:endParaRPr lang="en-US" sz="1100" dirty="0"/>
          </a:p>
        </p:txBody>
      </p:sp>
      <p:sp>
        <p:nvSpPr>
          <p:cNvPr id="19" name="Shape 17"/>
          <p:cNvSpPr/>
          <p:nvPr/>
        </p:nvSpPr>
        <p:spPr>
          <a:xfrm>
            <a:off x="6629400" y="2176272"/>
            <a:ext cx="1938528" cy="502920"/>
          </a:xfrm>
          <a:prstGeom prst="roundRect">
            <a:avLst>
              <a:gd name="adj" fmla="val 14545"/>
            </a:avLst>
          </a:prstGeom>
          <a:solidFill>
            <a:srgbClr val="222840"/>
          </a:solidFill>
          <a:ln/>
        </p:spPr>
      </p:sp>
      <p:sp>
        <p:nvSpPr>
          <p:cNvPr id="20" name="Text 18"/>
          <p:cNvSpPr/>
          <p:nvPr/>
        </p:nvSpPr>
        <p:spPr>
          <a:xfrm>
            <a:off x="6629400" y="2176272"/>
            <a:ext cx="1938528" cy="502920"/>
          </a:xfrm>
          <a:prstGeom prst="rect">
            <a:avLst/>
          </a:prstGeom>
          <a:noFill/>
          <a:ln/>
        </p:spPr>
        <p:txBody>
          <a:bodyPr wrap="square" rtlCol="0" anchor="ctr"/>
          <a:lstStyle/>
          <a:p>
            <a:pPr algn="ctr" indent="0" marL="0">
              <a:buNone/>
            </a:pPr>
            <a:r>
              <a:rPr lang="en-US" sz="1100" dirty="0">
                <a:solidFill>
                  <a:srgbClr val="4CC9F0"/>
                </a:solidFill>
                <a:latin typeface="Calibri" pitchFamily="34" charset="0"/>
                <a:ea typeface="Calibri" pitchFamily="34" charset="-122"/>
                <a:cs typeface="Calibri" pitchFamily="34" charset="-120"/>
              </a:rPr>
              <a:t>sistema</a:t>
            </a:r>
            <a:endParaRPr lang="en-US" sz="1100" dirty="0"/>
          </a:p>
        </p:txBody>
      </p:sp>
      <p:sp>
        <p:nvSpPr>
          <p:cNvPr id="21" name="Shape 19"/>
          <p:cNvSpPr/>
          <p:nvPr/>
        </p:nvSpPr>
        <p:spPr>
          <a:xfrm>
            <a:off x="457200" y="2798064"/>
            <a:ext cx="1938528" cy="502920"/>
          </a:xfrm>
          <a:prstGeom prst="roundRect">
            <a:avLst>
              <a:gd name="adj" fmla="val 14545"/>
            </a:avLst>
          </a:prstGeom>
          <a:solidFill>
            <a:srgbClr val="222840"/>
          </a:solidFill>
          <a:ln/>
        </p:spPr>
      </p:sp>
      <p:sp>
        <p:nvSpPr>
          <p:cNvPr id="22" name="Text 20"/>
          <p:cNvSpPr/>
          <p:nvPr/>
        </p:nvSpPr>
        <p:spPr>
          <a:xfrm>
            <a:off x="457200" y="2798064"/>
            <a:ext cx="1938528" cy="502920"/>
          </a:xfrm>
          <a:prstGeom prst="rect">
            <a:avLst/>
          </a:prstGeom>
          <a:noFill/>
          <a:ln/>
        </p:spPr>
        <p:txBody>
          <a:bodyPr wrap="square" rtlCol="0" anchor="ctr"/>
          <a:lstStyle/>
          <a:p>
            <a:pPr algn="ctr" indent="0" marL="0">
              <a:buNone/>
            </a:pPr>
            <a:r>
              <a:rPr lang="en-US" sz="1100" dirty="0">
                <a:solidFill>
                  <a:srgbClr val="4CC9F0"/>
                </a:solidFill>
                <a:latin typeface="Calibri" pitchFamily="34" charset="0"/>
                <a:ea typeface="Calibri" pitchFamily="34" charset="-122"/>
                <a:cs typeface="Calibri" pitchFamily="34" charset="-120"/>
              </a:rPr>
              <a:t>web</a:t>
            </a:r>
            <a:endParaRPr lang="en-US" sz="1100" dirty="0"/>
          </a:p>
        </p:txBody>
      </p:sp>
      <p:sp>
        <p:nvSpPr>
          <p:cNvPr id="23" name="Shape 21"/>
          <p:cNvSpPr/>
          <p:nvPr/>
        </p:nvSpPr>
        <p:spPr>
          <a:xfrm>
            <a:off x="2514600" y="2798064"/>
            <a:ext cx="1938528" cy="502920"/>
          </a:xfrm>
          <a:prstGeom prst="roundRect">
            <a:avLst>
              <a:gd name="adj" fmla="val 14545"/>
            </a:avLst>
          </a:prstGeom>
          <a:solidFill>
            <a:srgbClr val="222840"/>
          </a:solidFill>
          <a:ln/>
        </p:spPr>
      </p:sp>
      <p:sp>
        <p:nvSpPr>
          <p:cNvPr id="24" name="Text 22"/>
          <p:cNvSpPr/>
          <p:nvPr/>
        </p:nvSpPr>
        <p:spPr>
          <a:xfrm>
            <a:off x="2514600" y="2798064"/>
            <a:ext cx="1938528" cy="502920"/>
          </a:xfrm>
          <a:prstGeom prst="rect">
            <a:avLst/>
          </a:prstGeom>
          <a:noFill/>
          <a:ln/>
        </p:spPr>
        <p:txBody>
          <a:bodyPr wrap="square" rtlCol="0" anchor="ctr"/>
          <a:lstStyle/>
          <a:p>
            <a:pPr algn="ctr" indent="0" marL="0">
              <a:buNone/>
            </a:pPr>
            <a:r>
              <a:rPr lang="en-US" sz="1100" dirty="0">
                <a:solidFill>
                  <a:srgbClr val="4CC9F0"/>
                </a:solidFill>
                <a:latin typeface="Calibri" pitchFamily="34" charset="0"/>
                <a:ea typeface="Calibri" pitchFamily="34" charset="-122"/>
                <a:cs typeface="Calibri" pitchFamily="34" charset="-120"/>
              </a:rPr>
              <a:t>notas</a:t>
            </a:r>
            <a:endParaRPr lang="en-US" sz="1100" dirty="0"/>
          </a:p>
        </p:txBody>
      </p:sp>
      <p:sp>
        <p:nvSpPr>
          <p:cNvPr id="25" name="Shape 23"/>
          <p:cNvSpPr/>
          <p:nvPr/>
        </p:nvSpPr>
        <p:spPr>
          <a:xfrm>
            <a:off x="4572000" y="2798064"/>
            <a:ext cx="1938528" cy="502920"/>
          </a:xfrm>
          <a:prstGeom prst="roundRect">
            <a:avLst>
              <a:gd name="adj" fmla="val 14545"/>
            </a:avLst>
          </a:prstGeom>
          <a:solidFill>
            <a:srgbClr val="222840"/>
          </a:solidFill>
          <a:ln/>
        </p:spPr>
      </p:sp>
      <p:sp>
        <p:nvSpPr>
          <p:cNvPr id="26" name="Text 24"/>
          <p:cNvSpPr/>
          <p:nvPr/>
        </p:nvSpPr>
        <p:spPr>
          <a:xfrm>
            <a:off x="4572000" y="2798064"/>
            <a:ext cx="1938528" cy="502920"/>
          </a:xfrm>
          <a:prstGeom prst="rect">
            <a:avLst/>
          </a:prstGeom>
          <a:noFill/>
          <a:ln/>
        </p:spPr>
        <p:txBody>
          <a:bodyPr wrap="square" rtlCol="0" anchor="ctr"/>
          <a:lstStyle/>
          <a:p>
            <a:pPr algn="ctr" indent="0" marL="0">
              <a:buNone/>
            </a:pPr>
            <a:r>
              <a:rPr lang="en-US" sz="1100" dirty="0">
                <a:solidFill>
                  <a:srgbClr val="4CC9F0"/>
                </a:solidFill>
                <a:latin typeface="Calibri" pitchFamily="34" charset="0"/>
                <a:ea typeface="Calibri" pitchFamily="34" charset="-122"/>
                <a:cs typeface="Calibri" pitchFamily="34" charset="-120"/>
              </a:rPr>
              <a:t>aprendizaje</a:t>
            </a:r>
            <a:endParaRPr lang="en-US" sz="1100" dirty="0"/>
          </a:p>
        </p:txBody>
      </p:sp>
      <p:sp>
        <p:nvSpPr>
          <p:cNvPr id="27" name="Shape 25"/>
          <p:cNvSpPr/>
          <p:nvPr/>
        </p:nvSpPr>
        <p:spPr>
          <a:xfrm>
            <a:off x="6629400" y="2798064"/>
            <a:ext cx="1938528" cy="502920"/>
          </a:xfrm>
          <a:prstGeom prst="roundRect">
            <a:avLst>
              <a:gd name="adj" fmla="val 14545"/>
            </a:avLst>
          </a:prstGeom>
          <a:solidFill>
            <a:srgbClr val="222840"/>
          </a:solidFill>
          <a:ln/>
        </p:spPr>
      </p:sp>
      <p:sp>
        <p:nvSpPr>
          <p:cNvPr id="28" name="Text 26"/>
          <p:cNvSpPr/>
          <p:nvPr/>
        </p:nvSpPr>
        <p:spPr>
          <a:xfrm>
            <a:off x="6629400" y="2798064"/>
            <a:ext cx="1938528" cy="502920"/>
          </a:xfrm>
          <a:prstGeom prst="rect">
            <a:avLst/>
          </a:prstGeom>
          <a:noFill/>
          <a:ln/>
        </p:spPr>
        <p:txBody>
          <a:bodyPr wrap="square" rtlCol="0" anchor="ctr"/>
          <a:lstStyle/>
          <a:p>
            <a:pPr algn="ctr" indent="0" marL="0">
              <a:buNone/>
            </a:pPr>
            <a:r>
              <a:rPr lang="en-US" sz="1100" dirty="0">
                <a:solidFill>
                  <a:srgbClr val="4CC9F0"/>
                </a:solidFill>
                <a:latin typeface="Calibri" pitchFamily="34" charset="0"/>
                <a:ea typeface="Calibri" pitchFamily="34" charset="-122"/>
                <a:cs typeface="Calibri" pitchFamily="34" charset="-120"/>
              </a:rPr>
              <a:t>control_escritorio</a:t>
            </a:r>
            <a:endParaRPr lang="en-US" sz="1100" dirty="0"/>
          </a:p>
        </p:txBody>
      </p:sp>
      <p:sp>
        <p:nvSpPr>
          <p:cNvPr id="29" name="Shape 27"/>
          <p:cNvSpPr/>
          <p:nvPr/>
        </p:nvSpPr>
        <p:spPr>
          <a:xfrm>
            <a:off x="457200" y="3456432"/>
            <a:ext cx="8229600" cy="548640"/>
          </a:xfrm>
          <a:prstGeom prst="roundRect">
            <a:avLst>
              <a:gd name="adj" fmla="val 13333"/>
            </a:avLst>
          </a:prstGeom>
          <a:solidFill>
            <a:srgbClr val="222840"/>
          </a:solidFill>
          <a:ln/>
        </p:spPr>
      </p:sp>
      <p:sp>
        <p:nvSpPr>
          <p:cNvPr id="30" name="Text 28"/>
          <p:cNvSpPr/>
          <p:nvPr/>
        </p:nvSpPr>
        <p:spPr>
          <a:xfrm>
            <a:off x="548640" y="3456432"/>
            <a:ext cx="8046720" cy="548640"/>
          </a:xfrm>
          <a:prstGeom prst="rect">
            <a:avLst/>
          </a:prstGeom>
          <a:noFill/>
          <a:ln/>
        </p:spPr>
        <p:txBody>
          <a:bodyPr wrap="square"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Fallback: </a:t>
            </a:r>
            <a:pPr indent="0" marL="0">
              <a:buNone/>
            </a:pPr>
            <a:r>
              <a:rPr lang="en-US" sz="1300" dirty="0">
                <a:solidFill>
                  <a:srgbClr val="B0BAD0"/>
                </a:solidFill>
                <a:latin typeface="Calibri" pitchFamily="34" charset="0"/>
                <a:ea typeface="Calibri" pitchFamily="34" charset="-122"/>
                <a:cs typeface="Calibri" pitchFamily="34" charset="-120"/>
              </a:rPr>
              <a:t>core.ia — Qwen3-8B via llama.cpp  (solo si ningun skill hace match)</a:t>
            </a:r>
            <a:endParaRPr lang="en-US" sz="1300" dirty="0"/>
          </a:p>
        </p:txBody>
      </p:sp>
      <p:sp>
        <p:nvSpPr>
          <p:cNvPr id="31" name="Shape 29"/>
          <p:cNvSpPr/>
          <p:nvPr/>
        </p:nvSpPr>
        <p:spPr>
          <a:xfrm>
            <a:off x="457200" y="4114800"/>
            <a:ext cx="3931920" cy="640080"/>
          </a:xfrm>
          <a:prstGeom prst="roundRect">
            <a:avLst>
              <a:gd name="adj" fmla="val 11429"/>
            </a:avLst>
          </a:prstGeom>
          <a:solidFill>
            <a:srgbClr val="222840"/>
          </a:solidFill>
          <a:ln/>
        </p:spPr>
      </p:sp>
      <p:sp>
        <p:nvSpPr>
          <p:cNvPr id="32" name="Text 30"/>
          <p:cNvSpPr/>
          <p:nvPr/>
        </p:nvSpPr>
        <p:spPr>
          <a:xfrm>
            <a:off x="457200" y="4114800"/>
            <a:ext cx="3931920" cy="640080"/>
          </a:xfrm>
          <a:prstGeom prst="rect">
            <a:avLst/>
          </a:prstGeom>
          <a:noFill/>
          <a:ln/>
        </p:spPr>
        <p:txBody>
          <a:bodyPr wrap="square" rtlCol="0" anchor="ctr"/>
          <a:lstStyle/>
          <a:p>
            <a:pPr algn="ctr" indent="0" marL="0">
              <a:buNone/>
            </a:pPr>
            <a:r>
              <a:rPr lang="en-US" sz="1100" dirty="0">
                <a:solidFill>
                  <a:srgbClr val="B0BAD0"/>
                </a:solidFill>
              </a:rPr>
              <a:t>core.memoria · core.context_manager</a:t>
            </a:r>
            <a:endParaRPr lang="en-US" sz="1100" dirty="0"/>
          </a:p>
        </p:txBody>
      </p:sp>
      <p:sp>
        <p:nvSpPr>
          <p:cNvPr id="33" name="Shape 31"/>
          <p:cNvSpPr/>
          <p:nvPr/>
        </p:nvSpPr>
        <p:spPr>
          <a:xfrm>
            <a:off x="4754880" y="4114800"/>
            <a:ext cx="3931920" cy="640080"/>
          </a:xfrm>
          <a:prstGeom prst="roundRect">
            <a:avLst>
              <a:gd name="adj" fmla="val 11429"/>
            </a:avLst>
          </a:prstGeom>
          <a:solidFill>
            <a:srgbClr val="222840"/>
          </a:solidFill>
          <a:ln/>
        </p:spPr>
      </p:sp>
      <p:sp>
        <p:nvSpPr>
          <p:cNvPr id="34" name="Text 32"/>
          <p:cNvSpPr/>
          <p:nvPr/>
        </p:nvSpPr>
        <p:spPr>
          <a:xfrm>
            <a:off x="4754880" y="4114800"/>
            <a:ext cx="3931920" cy="640080"/>
          </a:xfrm>
          <a:prstGeom prst="rect">
            <a:avLst/>
          </a:prstGeom>
          <a:noFill/>
          <a:ln/>
        </p:spPr>
        <p:txBody>
          <a:bodyPr wrap="square" rtlCol="0" anchor="ctr"/>
          <a:lstStyle/>
          <a:p>
            <a:pPr algn="ctr" indent="0" marL="0">
              <a:buNone/>
            </a:pPr>
            <a:r>
              <a:rPr lang="en-US" sz="1100" dirty="0">
                <a:solidFill>
                  <a:srgbClr val="B0BAD0"/>
                </a:solidFill>
              </a:rPr>
              <a:t>data/ · JSON plano · audio_estatico/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Diagrama de Componentes</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7 / 19</a:t>
            </a:r>
            <a:endParaRPr lang="en-US" sz="1000" dirty="0"/>
          </a:p>
        </p:txBody>
      </p:sp>
      <p:pic>
        <p:nvPicPr>
          <p:cNvPr id="5" name="Image 0" descr="/sessions/nice-hopeful-hypatia/mnt/outputs/uml/components_diagram.png">    </p:cNvPr>
          <p:cNvPicPr>
            <a:picLocks noChangeAspect="1"/>
          </p:cNvPicPr>
          <p:nvPr/>
        </p:nvPicPr>
        <p:blipFill>
          <a:blip r:embed="rId1"/>
          <a:srcRect l="0" r="0" t="0" b="0"/>
          <a:stretch/>
        </p:blipFill>
        <p:spPr>
          <a:xfrm>
            <a:off x="274320" y="868680"/>
            <a:ext cx="8595360" cy="4160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Diagrama de Casos de Uso</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8 / 19</a:t>
            </a:r>
            <a:endParaRPr lang="en-US" sz="1000" dirty="0"/>
          </a:p>
        </p:txBody>
      </p:sp>
      <p:pic>
        <p:nvPicPr>
          <p:cNvPr id="5" name="Image 0" descr="/sessions/nice-hopeful-hypatia/mnt/outputs/uml/usecase_diagram.png">    </p:cNvPr>
          <p:cNvPicPr>
            <a:picLocks noChangeAspect="1"/>
          </p:cNvPicPr>
          <p:nvPr/>
        </p:nvPicPr>
        <p:blipFill>
          <a:blip r:embed="rId1"/>
          <a:srcRect l="0" r="0" t="0" b="0"/>
          <a:stretch/>
        </p:blipFill>
        <p:spPr>
          <a:xfrm>
            <a:off x="274320" y="868680"/>
            <a:ext cx="8595360" cy="4160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Flujo de Voz — Diagrama de Actividades</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9 / 19</a:t>
            </a:r>
            <a:endParaRPr lang="en-US" sz="1000" dirty="0"/>
          </a:p>
        </p:txBody>
      </p:sp>
      <p:pic>
        <p:nvPicPr>
          <p:cNvPr id="5" name="Image 0" descr="/sessions/nice-hopeful-hypatia/mnt/outputs/uml/activity_diagram.png">    </p:cNvPr>
          <p:cNvPicPr>
            <a:picLocks noChangeAspect="1"/>
          </p:cNvPicPr>
          <p:nvPr/>
        </p:nvPicPr>
        <p:blipFill>
          <a:blip r:embed="rId1"/>
          <a:srcRect l="0" r="0" t="0" b="0"/>
          <a:stretch/>
        </p:blipFill>
        <p:spPr>
          <a:xfrm>
            <a:off x="2560320" y="822960"/>
            <a:ext cx="4023360" cy="4251960"/>
          </a:xfrm>
          <a:prstGeom prst="rect">
            <a:avLst/>
          </a:prstGeom>
        </p:spPr>
      </p:pic>
      <p:sp>
        <p:nvSpPr>
          <p:cNvPr id="6" name="Text 3"/>
          <p:cNvSpPr/>
          <p:nvPr/>
        </p:nvSpPr>
        <p:spPr>
          <a:xfrm>
            <a:off x="274320" y="1097280"/>
            <a:ext cx="2103120" cy="320040"/>
          </a:xfrm>
          <a:prstGeom prst="rect">
            <a:avLst/>
          </a:prstGeom>
          <a:noFill/>
          <a:ln/>
        </p:spPr>
        <p:txBody>
          <a:bodyPr wrap="square" rtlCol="0" anchor="ctr"/>
          <a:lstStyle/>
          <a:p>
            <a:pPr indent="0" marL="0">
              <a:buNone/>
            </a:pPr>
            <a:r>
              <a:rPr lang="en-US" sz="1200" b="1" dirty="0">
                <a:solidFill>
                  <a:srgbClr val="4CC9F0"/>
                </a:solidFill>
              </a:rPr>
              <a:t>Lazy load paralelo:</a:t>
            </a:r>
            <a:endParaRPr lang="en-US" sz="1200" dirty="0"/>
          </a:p>
        </p:txBody>
      </p:sp>
      <p:sp>
        <p:nvSpPr>
          <p:cNvPr id="7" name="Text 4"/>
          <p:cNvSpPr/>
          <p:nvPr/>
        </p:nvSpPr>
        <p:spPr>
          <a:xfrm>
            <a:off x="274320" y="1463040"/>
            <a:ext cx="2103120" cy="914400"/>
          </a:xfrm>
          <a:prstGeom prst="rect">
            <a:avLst/>
          </a:prstGeom>
          <a:noFill/>
          <a:ln/>
        </p:spPr>
        <p:txBody>
          <a:bodyPr wrap="square" rtlCol="0" anchor="ctr"/>
          <a:lstStyle/>
          <a:p>
            <a:pPr indent="0" marL="0">
              <a:buNone/>
            </a:pPr>
            <a:r>
              <a:rPr lang="en-US" sz="1100" dirty="0">
                <a:solidFill>
                  <a:srgbClr val="B0BAD0"/>
                </a:solidFill>
              </a:rPr>
              <a:t>Mientras se reproduce 'Dime', Whisper base y Qwen3-TTS cargan en segundo plano.</a:t>
            </a:r>
            <a:endParaRPr lang="en-US" sz="1100" dirty="0"/>
          </a:p>
        </p:txBody>
      </p:sp>
      <p:sp>
        <p:nvSpPr>
          <p:cNvPr id="8" name="Text 5"/>
          <p:cNvSpPr/>
          <p:nvPr/>
        </p:nvSpPr>
        <p:spPr>
          <a:xfrm>
            <a:off x="274320" y="2651760"/>
            <a:ext cx="2103120" cy="320040"/>
          </a:xfrm>
          <a:prstGeom prst="rect">
            <a:avLst/>
          </a:prstGeom>
          <a:noFill/>
          <a:ln/>
        </p:spPr>
        <p:txBody>
          <a:bodyPr wrap="square" rtlCol="0" anchor="ctr"/>
          <a:lstStyle/>
          <a:p>
            <a:pPr indent="0" marL="0">
              <a:buNone/>
            </a:pPr>
            <a:r>
              <a:rPr lang="en-US" sz="1200" b="1" dirty="0">
                <a:solidFill>
                  <a:srgbClr val="4CC9F0"/>
                </a:solidFill>
              </a:rPr>
              <a:t>Anti-feedback:</a:t>
            </a:r>
            <a:endParaRPr lang="en-US" sz="1200" dirty="0"/>
          </a:p>
        </p:txBody>
      </p:sp>
      <p:sp>
        <p:nvSpPr>
          <p:cNvPr id="9" name="Text 6"/>
          <p:cNvSpPr/>
          <p:nvPr/>
        </p:nvSpPr>
        <p:spPr>
          <a:xfrm>
            <a:off x="274320" y="3017520"/>
            <a:ext cx="2103120" cy="731520"/>
          </a:xfrm>
          <a:prstGeom prst="rect">
            <a:avLst/>
          </a:prstGeom>
          <a:noFill/>
          <a:ln/>
        </p:spPr>
        <p:txBody>
          <a:bodyPr wrap="square" rtlCol="0" anchor="ctr"/>
          <a:lstStyle/>
          <a:p>
            <a:pPr indent="0" marL="0">
              <a:buNone/>
            </a:pPr>
            <a:r>
              <a:rPr lang="en-US" sz="1100" dirty="0">
                <a:solidFill>
                  <a:srgbClr val="B0BAD0"/>
                </a:solidFill>
              </a:rPr>
              <a:t>Microfono pausado durante TTS para evitar que SOFIA se escuche a si misma.</a:t>
            </a:r>
            <a:endParaRPr lang="en-US" sz="1100" dirty="0"/>
          </a:p>
        </p:txBody>
      </p:sp>
      <p:sp>
        <p:nvSpPr>
          <p:cNvPr id="10" name="Text 7"/>
          <p:cNvSpPr/>
          <p:nvPr/>
        </p:nvSpPr>
        <p:spPr>
          <a:xfrm>
            <a:off x="6766560" y="1097280"/>
            <a:ext cx="2103120" cy="320040"/>
          </a:xfrm>
          <a:prstGeom prst="rect">
            <a:avLst/>
          </a:prstGeom>
          <a:noFill/>
          <a:ln/>
        </p:spPr>
        <p:txBody>
          <a:bodyPr wrap="square" rtlCol="0" anchor="ctr"/>
          <a:lstStyle/>
          <a:p>
            <a:pPr indent="0" marL="0">
              <a:buNone/>
            </a:pPr>
            <a:r>
              <a:rPr lang="en-US" sz="1200" b="1" dirty="0">
                <a:solidFill>
                  <a:srgbClr val="7C5CFF"/>
                </a:solidFill>
              </a:rPr>
              <a:t>Doble Whisper:</a:t>
            </a:r>
            <a:endParaRPr lang="en-US" sz="1200" dirty="0"/>
          </a:p>
        </p:txBody>
      </p:sp>
      <p:sp>
        <p:nvSpPr>
          <p:cNvPr id="11" name="Text 8"/>
          <p:cNvSpPr/>
          <p:nvPr/>
        </p:nvSpPr>
        <p:spPr>
          <a:xfrm>
            <a:off x="6766560" y="1463040"/>
            <a:ext cx="2103120" cy="914400"/>
          </a:xfrm>
          <a:prstGeom prst="rect">
            <a:avLst/>
          </a:prstGeom>
          <a:noFill/>
          <a:ln/>
        </p:spPr>
        <p:txBody>
          <a:bodyPr wrap="square" rtlCol="0" anchor="ctr"/>
          <a:lstStyle/>
          <a:p>
            <a:pPr indent="0" marL="0">
              <a:buNone/>
            </a:pPr>
            <a:r>
              <a:rPr lang="en-US" sz="1100" dirty="0">
                <a:solidFill>
                  <a:srgbClr val="B0BAD0"/>
                </a:solidFill>
              </a:rPr>
              <a:t>tiny (75 MB) siempre activo. base carga perezosa solo cuando se necesita.</a:t>
            </a:r>
            <a:endParaRPr lang="en-US" sz="1100" dirty="0"/>
          </a:p>
        </p:txBody>
      </p:sp>
      <p:sp>
        <p:nvSpPr>
          <p:cNvPr id="12" name="Text 9"/>
          <p:cNvSpPr/>
          <p:nvPr/>
        </p:nvSpPr>
        <p:spPr>
          <a:xfrm>
            <a:off x="6766560" y="2651760"/>
            <a:ext cx="2103120" cy="320040"/>
          </a:xfrm>
          <a:prstGeom prst="rect">
            <a:avLst/>
          </a:prstGeom>
          <a:noFill/>
          <a:ln/>
        </p:spPr>
        <p:txBody>
          <a:bodyPr wrap="square" rtlCol="0" anchor="ctr"/>
          <a:lstStyle/>
          <a:p>
            <a:pPr indent="0" marL="0">
              <a:buNone/>
            </a:pPr>
            <a:r>
              <a:rPr lang="en-US" sz="1200" b="1" dirty="0">
                <a:solidFill>
                  <a:srgbClr val="7C5CFF"/>
                </a:solidFill>
              </a:rPr>
              <a:t>Primer match gana:</a:t>
            </a:r>
            <a:endParaRPr lang="en-US" sz="1200" dirty="0"/>
          </a:p>
        </p:txBody>
      </p:sp>
      <p:sp>
        <p:nvSpPr>
          <p:cNvPr id="13" name="Text 10"/>
          <p:cNvSpPr/>
          <p:nvPr/>
        </p:nvSpPr>
        <p:spPr>
          <a:xfrm>
            <a:off x="6766560" y="3017520"/>
            <a:ext cx="2103120" cy="731520"/>
          </a:xfrm>
          <a:prstGeom prst="rect">
            <a:avLst/>
          </a:prstGeom>
          <a:noFill/>
          <a:ln/>
        </p:spPr>
        <p:txBody>
          <a:bodyPr wrap="square" rtlCol="0" anchor="ctr"/>
          <a:lstStyle/>
          <a:p>
            <a:pPr indent="0" marL="0">
              <a:buNone/>
            </a:pPr>
            <a:r>
              <a:rPr lang="en-US" sz="1100" dirty="0">
                <a:solidFill>
                  <a:srgbClr val="B0BAD0"/>
                </a:solidFill>
              </a:rPr>
              <a:t>El orden de registro en main.py define prioridad de desambiguacion.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Diagrama de Secuencia — Consulta de Clima</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10 / 19</a:t>
            </a:r>
            <a:endParaRPr lang="en-US" sz="1000" dirty="0"/>
          </a:p>
        </p:txBody>
      </p:sp>
      <p:pic>
        <p:nvPicPr>
          <p:cNvPr id="5" name="Image 0" descr="/sessions/nice-hopeful-hypatia/mnt/outputs/uml/sequence_diagram.png">    </p:cNvPr>
          <p:cNvPicPr>
            <a:picLocks noChangeAspect="1"/>
          </p:cNvPicPr>
          <p:nvPr/>
        </p:nvPicPr>
        <p:blipFill>
          <a:blip r:embed="rId1"/>
          <a:srcRect l="0" r="0" t="0" b="0"/>
          <a:stretch/>
        </p:blipFill>
        <p:spPr>
          <a:xfrm>
            <a:off x="274320" y="868680"/>
            <a:ext cx="8595360" cy="41605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Diagrama de Clases — Nucleo</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11 / 19</a:t>
            </a:r>
            <a:endParaRPr lang="en-US" sz="1000" dirty="0"/>
          </a:p>
        </p:txBody>
      </p:sp>
      <p:pic>
        <p:nvPicPr>
          <p:cNvPr id="5" name="Image 0" descr="/sessions/nice-hopeful-hypatia/mnt/outputs/uml/class_diagram.png">    </p:cNvPr>
          <p:cNvPicPr>
            <a:picLocks noChangeAspect="1"/>
          </p:cNvPicPr>
          <p:nvPr/>
        </p:nvPicPr>
        <p:blipFill>
          <a:blip r:embed="rId1"/>
          <a:srcRect l="0" r="0" t="0" b="0"/>
          <a:stretch/>
        </p:blipFill>
        <p:spPr>
          <a:xfrm>
            <a:off x="274320" y="868680"/>
            <a:ext cx="8595360" cy="4160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Decisiones Tecnicas Clave (ADR)</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12 / 19</a:t>
            </a:r>
            <a:endParaRPr lang="en-US" sz="1000" dirty="0"/>
          </a:p>
        </p:txBody>
      </p:sp>
      <p:sp>
        <p:nvSpPr>
          <p:cNvPr id="5" name="Shape 3"/>
          <p:cNvSpPr/>
          <p:nvPr/>
        </p:nvSpPr>
        <p:spPr>
          <a:xfrm>
            <a:off x="274320" y="1005840"/>
            <a:ext cx="2743200" cy="1645920"/>
          </a:xfrm>
          <a:prstGeom prst="roundRect">
            <a:avLst>
              <a:gd name="adj" fmla="val 6667"/>
            </a:avLst>
          </a:prstGeom>
          <a:solidFill>
            <a:srgbClr val="222840"/>
          </a:solidFill>
          <a:ln/>
          <a:effectLst>
            <a:outerShdw sx="100000" sy="100000" kx="0" ky="0" algn="bl" rotWithShape="0" blurRad="101600" dist="38100" dir="2700000">
              <a:srgbClr val="000000">
                <a:alpha val="25000"/>
              </a:srgbClr>
            </a:outerShdw>
          </a:effectLst>
        </p:spPr>
      </p:sp>
      <p:sp>
        <p:nvSpPr>
          <p:cNvPr id="6" name="Text 4"/>
          <p:cNvSpPr/>
          <p:nvPr/>
        </p:nvSpPr>
        <p:spPr>
          <a:xfrm>
            <a:off x="438912" y="1115568"/>
            <a:ext cx="2414016" cy="329184"/>
          </a:xfrm>
          <a:prstGeom prst="rect">
            <a:avLst/>
          </a:prstGeom>
          <a:noFill/>
          <a:ln/>
        </p:spPr>
        <p:txBody>
          <a:bodyPr wrap="square" lIns="0" tIns="0" rIns="0" bIns="0" rtlCol="0" anchor="ctr"/>
          <a:lstStyle/>
          <a:p>
            <a:pPr indent="0" marL="0">
              <a:buNone/>
            </a:pPr>
            <a:r>
              <a:rPr lang="en-US" sz="1300" b="1" dirty="0">
                <a:solidFill>
                  <a:srgbClr val="7C5CFF"/>
                </a:solidFill>
                <a:latin typeface="Calibri" pitchFamily="34" charset="0"/>
                <a:ea typeface="Calibri" pitchFamily="34" charset="-122"/>
                <a:cs typeface="Calibri" pitchFamily="34" charset="-120"/>
              </a:rPr>
              <a:t>ADR-01: Router por keywords</a:t>
            </a:r>
            <a:endParaRPr lang="en-US" sz="1300" dirty="0"/>
          </a:p>
        </p:txBody>
      </p:sp>
      <p:sp>
        <p:nvSpPr>
          <p:cNvPr id="7" name="Text 5"/>
          <p:cNvSpPr/>
          <p:nvPr/>
        </p:nvSpPr>
        <p:spPr>
          <a:xfrm>
            <a:off x="438912" y="1481328"/>
            <a:ext cx="2414016" cy="106070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Sin NLU. Latencia minima. Depurable.</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El orden de registro es la prioridad.</a:t>
            </a:r>
            <a:endParaRPr lang="en-US" sz="1200" dirty="0"/>
          </a:p>
        </p:txBody>
      </p:sp>
      <p:sp>
        <p:nvSpPr>
          <p:cNvPr id="8" name="Shape 6"/>
          <p:cNvSpPr/>
          <p:nvPr/>
        </p:nvSpPr>
        <p:spPr>
          <a:xfrm>
            <a:off x="3227832" y="1005840"/>
            <a:ext cx="2743200" cy="1645920"/>
          </a:xfrm>
          <a:prstGeom prst="roundRect">
            <a:avLst>
              <a:gd name="adj" fmla="val 6667"/>
            </a:avLst>
          </a:prstGeom>
          <a:solidFill>
            <a:srgbClr val="222840"/>
          </a:solidFill>
          <a:ln/>
          <a:effectLst>
            <a:outerShdw sx="100000" sy="100000" kx="0" ky="0" algn="bl" rotWithShape="0" blurRad="101600" dist="38100" dir="2700000">
              <a:srgbClr val="000000">
                <a:alpha val="25000"/>
              </a:srgbClr>
            </a:outerShdw>
          </a:effectLst>
        </p:spPr>
      </p:sp>
      <p:sp>
        <p:nvSpPr>
          <p:cNvPr id="9" name="Text 7"/>
          <p:cNvSpPr/>
          <p:nvPr/>
        </p:nvSpPr>
        <p:spPr>
          <a:xfrm>
            <a:off x="3392424" y="1115568"/>
            <a:ext cx="2414016" cy="329184"/>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ADR-02: LLM solo como fallback</a:t>
            </a:r>
            <a:endParaRPr lang="en-US" sz="1300" dirty="0"/>
          </a:p>
        </p:txBody>
      </p:sp>
      <p:sp>
        <p:nvSpPr>
          <p:cNvPr id="10" name="Text 8"/>
          <p:cNvSpPr/>
          <p:nvPr/>
        </p:nvSpPr>
        <p:spPr>
          <a:xfrm>
            <a:off x="3392424" y="1481328"/>
            <a:ext cx="2414016" cy="106070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El 95% de comandos los resuelven skills</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deterministas sin tocar el LLM.</a:t>
            </a:r>
            <a:endParaRPr lang="en-US" sz="1200" dirty="0"/>
          </a:p>
        </p:txBody>
      </p:sp>
      <p:sp>
        <p:nvSpPr>
          <p:cNvPr id="11" name="Shape 9"/>
          <p:cNvSpPr/>
          <p:nvPr/>
        </p:nvSpPr>
        <p:spPr>
          <a:xfrm>
            <a:off x="6181344" y="1005840"/>
            <a:ext cx="2743200" cy="1645920"/>
          </a:xfrm>
          <a:prstGeom prst="roundRect">
            <a:avLst>
              <a:gd name="adj" fmla="val 6667"/>
            </a:avLst>
          </a:prstGeom>
          <a:solidFill>
            <a:srgbClr val="222840"/>
          </a:solidFill>
          <a:ln/>
          <a:effectLst>
            <a:outerShdw sx="100000" sy="100000" kx="0" ky="0" algn="bl" rotWithShape="0" blurRad="101600" dist="38100" dir="2700000">
              <a:srgbClr val="000000">
                <a:alpha val="25000"/>
              </a:srgbClr>
            </a:outerShdw>
          </a:effectLst>
        </p:spPr>
      </p:sp>
      <p:sp>
        <p:nvSpPr>
          <p:cNvPr id="12" name="Text 10"/>
          <p:cNvSpPr/>
          <p:nvPr/>
        </p:nvSpPr>
        <p:spPr>
          <a:xfrm>
            <a:off x="6345936" y="1115568"/>
            <a:ext cx="2414016" cy="329184"/>
          </a:xfrm>
          <a:prstGeom prst="rect">
            <a:avLst/>
          </a:prstGeom>
          <a:noFill/>
          <a:ln/>
        </p:spPr>
        <p:txBody>
          <a:bodyPr wrap="square" lIns="0" tIns="0" rIns="0" bIns="0" rtlCol="0" anchor="ctr"/>
          <a:lstStyle/>
          <a:p>
            <a:pPr indent="0" marL="0">
              <a:buNone/>
            </a:pPr>
            <a:r>
              <a:rPr lang="en-US" sz="1300" b="1" dirty="0">
                <a:solidFill>
                  <a:srgbClr val="7C5CFF"/>
                </a:solidFill>
                <a:latin typeface="Calibri" pitchFamily="34" charset="0"/>
                <a:ea typeface="Calibri" pitchFamily="34" charset="-122"/>
                <a:cs typeface="Calibri" pitchFamily="34" charset="-120"/>
              </a:rPr>
              <a:t>ADR-03: Doble Whisper tiny/base</a:t>
            </a:r>
            <a:endParaRPr lang="en-US" sz="1300" dirty="0"/>
          </a:p>
        </p:txBody>
      </p:sp>
      <p:sp>
        <p:nvSpPr>
          <p:cNvPr id="13" name="Text 11"/>
          <p:cNvSpPr/>
          <p:nvPr/>
        </p:nvSpPr>
        <p:spPr>
          <a:xfrm>
            <a:off x="6345936" y="1481328"/>
            <a:ext cx="2414016" cy="106070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tiny confundia 'sofia' con 'novia'</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en produccion real. Documentado en logs.</a:t>
            </a:r>
            <a:endParaRPr lang="en-US" sz="1200" dirty="0"/>
          </a:p>
        </p:txBody>
      </p:sp>
      <p:sp>
        <p:nvSpPr>
          <p:cNvPr id="14" name="Shape 12"/>
          <p:cNvSpPr/>
          <p:nvPr/>
        </p:nvSpPr>
        <p:spPr>
          <a:xfrm>
            <a:off x="274320" y="2834640"/>
            <a:ext cx="2743200" cy="1645920"/>
          </a:xfrm>
          <a:prstGeom prst="roundRect">
            <a:avLst>
              <a:gd name="adj" fmla="val 6667"/>
            </a:avLst>
          </a:prstGeom>
          <a:solidFill>
            <a:srgbClr val="222840"/>
          </a:solidFill>
          <a:ln/>
          <a:effectLst>
            <a:outerShdw sx="100000" sy="100000" kx="0" ky="0" algn="bl" rotWithShape="0" blurRad="101600" dist="38100" dir="2700000">
              <a:srgbClr val="000000">
                <a:alpha val="25000"/>
              </a:srgbClr>
            </a:outerShdw>
          </a:effectLst>
        </p:spPr>
      </p:sp>
      <p:sp>
        <p:nvSpPr>
          <p:cNvPr id="15" name="Text 13"/>
          <p:cNvSpPr/>
          <p:nvPr/>
        </p:nvSpPr>
        <p:spPr>
          <a:xfrm>
            <a:off x="438912" y="2944368"/>
            <a:ext cx="2414016" cy="329184"/>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ADR-04: Lazy loading agresivo</a:t>
            </a:r>
            <a:endParaRPr lang="en-US" sz="1300" dirty="0"/>
          </a:p>
        </p:txBody>
      </p:sp>
      <p:sp>
        <p:nvSpPr>
          <p:cNvPr id="16" name="Text 14"/>
          <p:cNvSpPr/>
          <p:nvPr/>
        </p:nvSpPr>
        <p:spPr>
          <a:xfrm>
            <a:off x="438912" y="3310128"/>
            <a:ext cx="2414016" cy="106070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Modelos pesados cargan mientras</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el usuario habla. Latencia percibida minima.</a:t>
            </a:r>
            <a:endParaRPr lang="en-US" sz="1200" dirty="0"/>
          </a:p>
        </p:txBody>
      </p:sp>
      <p:sp>
        <p:nvSpPr>
          <p:cNvPr id="17" name="Shape 15"/>
          <p:cNvSpPr/>
          <p:nvPr/>
        </p:nvSpPr>
        <p:spPr>
          <a:xfrm>
            <a:off x="3227832" y="2834640"/>
            <a:ext cx="2743200" cy="1645920"/>
          </a:xfrm>
          <a:prstGeom prst="roundRect">
            <a:avLst>
              <a:gd name="adj" fmla="val 6667"/>
            </a:avLst>
          </a:prstGeom>
          <a:solidFill>
            <a:srgbClr val="222840"/>
          </a:solidFill>
          <a:ln/>
          <a:effectLst>
            <a:outerShdw sx="100000" sy="100000" kx="0" ky="0" algn="bl" rotWithShape="0" blurRad="101600" dist="38100" dir="2700000">
              <a:srgbClr val="000000">
                <a:alpha val="25000"/>
              </a:srgbClr>
            </a:outerShdw>
          </a:effectLst>
        </p:spPr>
      </p:sp>
      <p:sp>
        <p:nvSpPr>
          <p:cNvPr id="18" name="Text 16"/>
          <p:cNvSpPr/>
          <p:nvPr/>
        </p:nvSpPr>
        <p:spPr>
          <a:xfrm>
            <a:off x="3392424" y="2944368"/>
            <a:ext cx="2414016" cy="329184"/>
          </a:xfrm>
          <a:prstGeom prst="rect">
            <a:avLst/>
          </a:prstGeom>
          <a:noFill/>
          <a:ln/>
        </p:spPr>
        <p:txBody>
          <a:bodyPr wrap="square" lIns="0" tIns="0" rIns="0" bIns="0" rtlCol="0" anchor="ctr"/>
          <a:lstStyle/>
          <a:p>
            <a:pPr indent="0" marL="0">
              <a:buNone/>
            </a:pPr>
            <a:r>
              <a:rPr lang="en-US" sz="1300" b="1" dirty="0">
                <a:solidFill>
                  <a:srgbClr val="7C5CFF"/>
                </a:solidFill>
                <a:latin typeface="Calibri" pitchFamily="34" charset="0"/>
                <a:ea typeface="Calibri" pitchFamily="34" charset="-122"/>
                <a:cs typeface="Calibri" pitchFamily="34" charset="-120"/>
              </a:rPr>
              <a:t>ADR-07: pywinauto sobre UIA</a:t>
            </a:r>
            <a:endParaRPr lang="en-US" sz="1300" dirty="0"/>
          </a:p>
        </p:txBody>
      </p:sp>
      <p:sp>
        <p:nvSpPr>
          <p:cNvPr id="19" name="Text 17"/>
          <p:cNvSpPr/>
          <p:nvPr/>
        </p:nvSpPr>
        <p:spPr>
          <a:xfrm>
            <a:off x="3392424" y="3310128"/>
            <a:ext cx="2414016" cy="106070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Opera sobre semantica de ventanas,</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no pixeles. Resistente a cambios DPI.</a:t>
            </a:r>
            <a:endParaRPr lang="en-US" sz="1200" dirty="0"/>
          </a:p>
        </p:txBody>
      </p:sp>
      <p:sp>
        <p:nvSpPr>
          <p:cNvPr id="20" name="Shape 18"/>
          <p:cNvSpPr/>
          <p:nvPr/>
        </p:nvSpPr>
        <p:spPr>
          <a:xfrm>
            <a:off x="6181344" y="2834640"/>
            <a:ext cx="2743200" cy="1645920"/>
          </a:xfrm>
          <a:prstGeom prst="roundRect">
            <a:avLst>
              <a:gd name="adj" fmla="val 6667"/>
            </a:avLst>
          </a:prstGeom>
          <a:solidFill>
            <a:srgbClr val="222840"/>
          </a:solidFill>
          <a:ln/>
          <a:effectLst>
            <a:outerShdw sx="100000" sy="100000" kx="0" ky="0" algn="bl" rotWithShape="0" blurRad="101600" dist="38100" dir="2700000">
              <a:srgbClr val="000000">
                <a:alpha val="25000"/>
              </a:srgbClr>
            </a:outerShdw>
          </a:effectLst>
        </p:spPr>
      </p:sp>
      <p:sp>
        <p:nvSpPr>
          <p:cNvPr id="21" name="Text 19"/>
          <p:cNvSpPr/>
          <p:nvPr/>
        </p:nvSpPr>
        <p:spPr>
          <a:xfrm>
            <a:off x="6345936" y="2944368"/>
            <a:ext cx="2414016" cy="329184"/>
          </a:xfrm>
          <a:prstGeom prst="rect">
            <a:avLst/>
          </a:prstGeom>
          <a:noFill/>
          <a:ln/>
        </p:spPr>
        <p:txBody>
          <a:bodyPr wrap="square" lIns="0" tIns="0" rIns="0" bIns="0"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ADR-09: JSON plano sin BD</a:t>
            </a:r>
            <a:endParaRPr lang="en-US" sz="1300" dirty="0"/>
          </a:p>
        </p:txBody>
      </p:sp>
      <p:sp>
        <p:nvSpPr>
          <p:cNvPr id="22" name="Text 20"/>
          <p:cNvSpPr/>
          <p:nvPr/>
        </p:nvSpPr>
        <p:spPr>
          <a:xfrm>
            <a:off x="6345936" y="3310128"/>
            <a:ext cx="2414016" cy="1060704"/>
          </a:xfrm>
          <a:prstGeom prst="rect">
            <a:avLst/>
          </a:prstGeom>
          <a:noFill/>
          <a:ln/>
        </p:spPr>
        <p:txBody>
          <a:bodyPr wrap="square" lIns="0" tIns="0" rIns="0" bIns="0" rtlCol="0" anchor="t"/>
          <a:lstStyle/>
          <a:p>
            <a:pPr indent="0" marL="0">
              <a:buNone/>
            </a:pPr>
            <a:r>
              <a:rPr lang="en-US" sz="1200" dirty="0">
                <a:solidFill>
                  <a:srgbClr val="B0BAD0"/>
                </a:solidFill>
                <a:latin typeface="Calibri" pitchFamily="34" charset="0"/>
                <a:ea typeface="Calibri" pitchFamily="34" charset="-122"/>
                <a:cs typeface="Calibri" pitchFamily="34" charset="-120"/>
              </a:rPr>
              <a:t>Volumen trivial (un usuario, decenas</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de registros). SQLite es overhead injustificado.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Extensibilidad: Agregar una Skill Nueva</a:t>
            </a:r>
            <a:endParaRPr lang="en-US" sz="2800" dirty="0"/>
          </a:p>
        </p:txBody>
      </p:sp>
      <p:sp>
        <p:nvSpPr>
          <p:cNvPr id="3" name="Shape 1"/>
          <p:cNvSpPr/>
          <p:nvPr/>
        </p:nvSpPr>
        <p:spPr>
          <a:xfrm>
            <a:off x="365760" y="777240"/>
            <a:ext cx="8412480" cy="36576"/>
          </a:xfrm>
          <a:prstGeom prst="rect">
            <a:avLst/>
          </a:prstGeom>
          <a:solidFill>
            <a:srgbClr val="4CC9F0"/>
          </a:solidFill>
          <a:ln w="12700">
            <a:solidFill>
              <a:srgbClr val="4CC9F0"/>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13 / 19</a:t>
            </a:r>
            <a:endParaRPr lang="en-US" sz="1000" dirty="0"/>
          </a:p>
        </p:txBody>
      </p:sp>
      <p:sp>
        <p:nvSpPr>
          <p:cNvPr id="5" name="Text 3"/>
          <p:cNvSpPr/>
          <p:nvPr/>
        </p:nvSpPr>
        <p:spPr>
          <a:xfrm>
            <a:off x="457200" y="1005840"/>
            <a:ext cx="8229600" cy="411480"/>
          </a:xfrm>
          <a:prstGeom prst="rect">
            <a:avLst/>
          </a:prstGeom>
          <a:noFill/>
          <a:ln/>
        </p:spPr>
        <p:txBody>
          <a:bodyPr wrap="square" rtlCol="0" anchor="ctr"/>
          <a:lstStyle/>
          <a:p>
            <a:pPr indent="0" marL="0">
              <a:buNone/>
            </a:pPr>
            <a:r>
              <a:rPr lang="en-US" sz="1800" b="1" dirty="0">
                <a:solidFill>
                  <a:srgbClr val="4CC9F0"/>
                </a:solidFill>
                <a:latin typeface="Calibri" pitchFamily="34" charset="0"/>
                <a:ea typeface="Calibri" pitchFamily="34" charset="-122"/>
                <a:cs typeface="Calibri" pitchFamily="34" charset="-120"/>
              </a:rPr>
              <a:t>2 pasos. Sin tocar el nucleo:</a:t>
            </a:r>
            <a:endParaRPr lang="en-US" sz="1800" dirty="0"/>
          </a:p>
        </p:txBody>
      </p:sp>
      <p:sp>
        <p:nvSpPr>
          <p:cNvPr id="6" name="Shape 4"/>
          <p:cNvSpPr/>
          <p:nvPr/>
        </p:nvSpPr>
        <p:spPr>
          <a:xfrm>
            <a:off x="365760" y="1554480"/>
            <a:ext cx="3931920" cy="1691640"/>
          </a:xfrm>
          <a:prstGeom prst="roundRect">
            <a:avLst>
              <a:gd name="adj" fmla="val 6486"/>
            </a:avLst>
          </a:prstGeom>
          <a:solidFill>
            <a:srgbClr val="222840"/>
          </a:solidFill>
          <a:ln/>
          <a:effectLst>
            <a:outerShdw sx="100000" sy="100000" kx="0" ky="0" algn="bl" rotWithShape="0" blurRad="101600" dist="38100" dir="2700000">
              <a:srgbClr val="000000">
                <a:alpha val="25000"/>
              </a:srgbClr>
            </a:outerShdw>
          </a:effectLst>
        </p:spPr>
      </p:sp>
      <p:sp>
        <p:nvSpPr>
          <p:cNvPr id="7" name="Text 5"/>
          <p:cNvSpPr/>
          <p:nvPr/>
        </p:nvSpPr>
        <p:spPr>
          <a:xfrm>
            <a:off x="457200" y="1627632"/>
            <a:ext cx="3749040" cy="347472"/>
          </a:xfrm>
          <a:prstGeom prst="rect">
            <a:avLst/>
          </a:prstGeom>
          <a:noFill/>
          <a:ln/>
        </p:spPr>
        <p:txBody>
          <a:bodyPr wrap="square" rtlCol="0" anchor="ctr"/>
          <a:lstStyle/>
          <a:p>
            <a:pPr indent="0" marL="0">
              <a:buNone/>
            </a:pPr>
            <a:r>
              <a:rPr lang="en-US" sz="1300" b="1" dirty="0">
                <a:solidFill>
                  <a:srgbClr val="7C5CFF"/>
                </a:solidFill>
                <a:latin typeface="Calibri" pitchFamily="34" charset="0"/>
                <a:ea typeface="Calibri" pitchFamily="34" charset="-122"/>
                <a:cs typeface="Calibri" pitchFamily="34" charset="-120"/>
              </a:rPr>
              <a:t>Paso 1: Crear skills/mi_skill.py</a:t>
            </a:r>
            <a:endParaRPr lang="en-US" sz="1300" dirty="0"/>
          </a:p>
        </p:txBody>
      </p:sp>
      <p:sp>
        <p:nvSpPr>
          <p:cNvPr id="8" name="Text 6"/>
          <p:cNvSpPr/>
          <p:nvPr/>
        </p:nvSpPr>
        <p:spPr>
          <a:xfrm>
            <a:off x="502920" y="1993392"/>
            <a:ext cx="3703320" cy="1188720"/>
          </a:xfrm>
          <a:prstGeom prst="rect">
            <a:avLst/>
          </a:prstGeom>
          <a:noFill/>
          <a:ln/>
        </p:spPr>
        <p:txBody>
          <a:bodyPr wrap="square" rtlCol="0" anchor="ctr"/>
          <a:lstStyle/>
          <a:p>
            <a:pPr indent="0" marL="0">
              <a:buNone/>
            </a:pPr>
            <a:r>
              <a:rPr lang="en-US" sz="1200" dirty="0">
                <a:solidFill>
                  <a:srgbClr val="4CC9F0"/>
                </a:solidFill>
                <a:latin typeface="Courier New" pitchFamily="34" charset="0"/>
                <a:ea typeface="Courier New" pitchFamily="34" charset="-122"/>
                <a:cs typeface="Courier New" pitchFamily="34" charset="-120"/>
              </a:rPr>
              <a:t>KEYWORDS = ["mi comando", "mi tarea"]</a:t>
            </a:r>
            <a:endParaRPr lang="en-US" sz="1200" dirty="0"/>
          </a:p>
          <a:p>
            <a:pPr indent="0" marL="0">
              <a:buNone/>
            </a:pPr>
            <a:endParaRPr lang="en-US" sz="1200" dirty="0"/>
          </a:p>
          <a:p>
            <a:pPr indent="0" marL="0">
              <a:buNone/>
            </a:pPr>
            <a:r>
              <a:rPr lang="en-US" sz="1200" dirty="0">
                <a:solidFill>
                  <a:srgbClr val="4CC9F0"/>
                </a:solidFill>
                <a:latin typeface="Courier New" pitchFamily="34" charset="0"/>
                <a:ea typeface="Courier New" pitchFamily="34" charset="-122"/>
                <a:cs typeface="Courier New" pitchFamily="34" charset="-120"/>
              </a:rPr>
              <a:t>def manejar(texto) -&gt; str:</a:t>
            </a:r>
            <a:endParaRPr lang="en-US" sz="1200" dirty="0"/>
          </a:p>
          <a:p>
            <a:pPr indent="0" marL="0">
              <a:buNone/>
            </a:pPr>
            <a:r>
              <a:rPr lang="en-US" sz="1200" dirty="0">
                <a:solidFill>
                  <a:srgbClr val="4CC9F0"/>
                </a:solidFill>
                <a:latin typeface="Courier New" pitchFamily="34" charset="0"/>
                <a:ea typeface="Courier New" pitchFamily="34" charset="-122"/>
                <a:cs typeface="Courier New" pitchFamily="34" charset="-120"/>
              </a:rPr>
              <a:t>    return "Hecho."</a:t>
            </a:r>
            <a:endParaRPr lang="en-US" sz="1200" dirty="0"/>
          </a:p>
        </p:txBody>
      </p:sp>
      <p:sp>
        <p:nvSpPr>
          <p:cNvPr id="9" name="Shape 7"/>
          <p:cNvSpPr/>
          <p:nvPr/>
        </p:nvSpPr>
        <p:spPr>
          <a:xfrm>
            <a:off x="4846320" y="1554480"/>
            <a:ext cx="3931920" cy="1691640"/>
          </a:xfrm>
          <a:prstGeom prst="roundRect">
            <a:avLst>
              <a:gd name="adj" fmla="val 6486"/>
            </a:avLst>
          </a:prstGeom>
          <a:solidFill>
            <a:srgbClr val="222840"/>
          </a:solidFill>
          <a:ln/>
          <a:effectLst>
            <a:outerShdw sx="100000" sy="100000" kx="0" ky="0" algn="bl" rotWithShape="0" blurRad="101600" dist="38100" dir="2700000">
              <a:srgbClr val="000000">
                <a:alpha val="25000"/>
              </a:srgbClr>
            </a:outerShdw>
          </a:effectLst>
        </p:spPr>
      </p:sp>
      <p:sp>
        <p:nvSpPr>
          <p:cNvPr id="10" name="Text 8"/>
          <p:cNvSpPr/>
          <p:nvPr/>
        </p:nvSpPr>
        <p:spPr>
          <a:xfrm>
            <a:off x="4937760" y="1627632"/>
            <a:ext cx="3749040" cy="347472"/>
          </a:xfrm>
          <a:prstGeom prst="rect">
            <a:avLst/>
          </a:prstGeom>
          <a:noFill/>
          <a:ln/>
        </p:spPr>
        <p:txBody>
          <a:bodyPr wrap="square" rtlCol="0" anchor="ctr"/>
          <a:lstStyle/>
          <a:p>
            <a:pPr indent="0" marL="0">
              <a:buNone/>
            </a:pPr>
            <a:r>
              <a:rPr lang="en-US" sz="1300" b="1" dirty="0">
                <a:solidFill>
                  <a:srgbClr val="7C5CFF"/>
                </a:solidFill>
                <a:latin typeface="Calibri" pitchFamily="34" charset="0"/>
                <a:ea typeface="Calibri" pitchFamily="34" charset="-122"/>
                <a:cs typeface="Calibri" pitchFamily="34" charset="-120"/>
              </a:rPr>
              <a:t>Paso 2: Registrar en main.py</a:t>
            </a:r>
            <a:endParaRPr lang="en-US" sz="1300" dirty="0"/>
          </a:p>
        </p:txBody>
      </p:sp>
      <p:sp>
        <p:nvSpPr>
          <p:cNvPr id="11" name="Text 9"/>
          <p:cNvSpPr/>
          <p:nvPr/>
        </p:nvSpPr>
        <p:spPr>
          <a:xfrm>
            <a:off x="4983480" y="1993392"/>
            <a:ext cx="3703320" cy="1188720"/>
          </a:xfrm>
          <a:prstGeom prst="rect">
            <a:avLst/>
          </a:prstGeom>
          <a:noFill/>
          <a:ln/>
        </p:spPr>
        <p:txBody>
          <a:bodyPr wrap="square" rtlCol="0" anchor="ctr"/>
          <a:lstStyle/>
          <a:p>
            <a:pPr indent="0" marL="0">
              <a:buNone/>
            </a:pPr>
            <a:r>
              <a:rPr lang="en-US" sz="1200" dirty="0">
                <a:solidFill>
                  <a:srgbClr val="4CC9F0"/>
                </a:solidFill>
                <a:latin typeface="Courier New" pitchFamily="34" charset="0"/>
                <a:ea typeface="Courier New" pitchFamily="34" charset="-122"/>
                <a:cs typeface="Courier New" pitchFamily="34" charset="-120"/>
              </a:rPr>
              <a:t>from skills import mi_skill</a:t>
            </a:r>
            <a:endParaRPr lang="en-US" sz="1200" dirty="0"/>
          </a:p>
          <a:p>
            <a:pPr indent="0" marL="0">
              <a:buNone/>
            </a:pPr>
            <a:endParaRPr lang="en-US" sz="1200" dirty="0"/>
          </a:p>
          <a:p>
            <a:pPr indent="0" marL="0">
              <a:buNone/>
            </a:pPr>
            <a:r>
              <a:rPr lang="en-US" sz="1200" dirty="0">
                <a:solidFill>
                  <a:srgbClr val="4CC9F0"/>
                </a:solidFill>
                <a:latin typeface="Courier New" pitchFamily="34" charset="0"/>
                <a:ea typeface="Courier New" pitchFamily="34" charset="-122"/>
                <a:cs typeface="Courier New" pitchFamily="34" charset="-120"/>
              </a:rPr>
              <a:t>router.registrar(</a:t>
            </a:r>
            <a:endParaRPr lang="en-US" sz="1200" dirty="0"/>
          </a:p>
          <a:p>
            <a:pPr indent="0" marL="0">
              <a:buNone/>
            </a:pPr>
            <a:r>
              <a:rPr lang="en-US" sz="1200" dirty="0">
                <a:solidFill>
                  <a:srgbClr val="4CC9F0"/>
                </a:solidFill>
                <a:latin typeface="Courier New" pitchFamily="34" charset="0"/>
                <a:ea typeface="Courier New" pitchFamily="34" charset="-122"/>
                <a:cs typeface="Courier New" pitchFamily="34" charset="-120"/>
              </a:rPr>
              <a:t>    "mi_skill",</a:t>
            </a:r>
            <a:endParaRPr lang="en-US" sz="1200" dirty="0"/>
          </a:p>
          <a:p>
            <a:pPr indent="0" marL="0">
              <a:buNone/>
            </a:pPr>
            <a:r>
              <a:rPr lang="en-US" sz="1200" dirty="0">
                <a:solidFill>
                  <a:srgbClr val="4CC9F0"/>
                </a:solidFill>
                <a:latin typeface="Courier New" pitchFamily="34" charset="0"/>
                <a:ea typeface="Courier New" pitchFamily="34" charset="-122"/>
                <a:cs typeface="Courier New" pitchFamily="34" charset="-120"/>
              </a:rPr>
              <a:t>    mi_skill.KEYWORDS,</a:t>
            </a:r>
            <a:endParaRPr lang="en-US" sz="1200" dirty="0"/>
          </a:p>
          <a:p>
            <a:pPr indent="0" marL="0">
              <a:buNone/>
            </a:pPr>
            <a:r>
              <a:rPr lang="en-US" sz="1200" dirty="0">
                <a:solidFill>
                  <a:srgbClr val="4CC9F0"/>
                </a:solidFill>
                <a:latin typeface="Courier New" pitchFamily="34" charset="0"/>
                <a:ea typeface="Courier New" pitchFamily="34" charset="-122"/>
                <a:cs typeface="Courier New" pitchFamily="34" charset="-120"/>
              </a:rPr>
              <a:t>    mi_skill.manejar</a:t>
            </a:r>
            <a:endParaRPr lang="en-US" sz="1200" dirty="0"/>
          </a:p>
          <a:p>
            <a:pPr indent="0" marL="0">
              <a:buNone/>
            </a:pPr>
            <a:r>
              <a:rPr lang="en-US" sz="1200" dirty="0">
                <a:solidFill>
                  <a:srgbClr val="4CC9F0"/>
                </a:solidFill>
                <a:latin typeface="Courier New" pitchFamily="34" charset="0"/>
                <a:ea typeface="Courier New" pitchFamily="34" charset="-122"/>
                <a:cs typeface="Courier New" pitchFamily="34" charset="-120"/>
              </a:rPr>
              <a:t>)</a:t>
            </a:r>
            <a:endParaRPr lang="en-US" sz="1200" dirty="0"/>
          </a:p>
        </p:txBody>
      </p:sp>
      <p:sp>
        <p:nvSpPr>
          <p:cNvPr id="12" name="Shape 10"/>
          <p:cNvSpPr/>
          <p:nvPr/>
        </p:nvSpPr>
        <p:spPr>
          <a:xfrm>
            <a:off x="365760" y="3410712"/>
            <a:ext cx="8412480" cy="1417320"/>
          </a:xfrm>
          <a:prstGeom prst="roundRect">
            <a:avLst>
              <a:gd name="adj" fmla="val 6452"/>
            </a:avLst>
          </a:prstGeom>
          <a:solidFill>
            <a:srgbClr val="222840"/>
          </a:solidFill>
          <a:ln/>
        </p:spPr>
      </p:sp>
      <p:sp>
        <p:nvSpPr>
          <p:cNvPr id="13" name="Text 11"/>
          <p:cNvSpPr/>
          <p:nvPr/>
        </p:nvSpPr>
        <p:spPr>
          <a:xfrm>
            <a:off x="548640" y="3502152"/>
            <a:ext cx="8046720" cy="12344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Implicacion para clientes corporativos: </a:t>
            </a:r>
            <a:pPr indent="0" marL="0">
              <a:buNone/>
            </a:pPr>
            <a:r>
              <a:rPr lang="en-US" sz="1400" dirty="0">
                <a:solidFill>
                  <a:srgbClr val="B0BAD0"/>
                </a:solidFill>
                <a:latin typeface="Calibri" pitchFamily="34" charset="0"/>
                <a:ea typeface="Calibri" pitchFamily="34" charset="-122"/>
                <a:cs typeface="Calibri" pitchFamily="34" charset="-120"/>
              </a:rPr>
              <a:t>integrar SOFIA con un ERP, CRM o sistema propietario = crear 1 archivo Python
</a:t>
            </a:r>
            <a:pPr indent="0" marL="0">
              <a:buNone/>
            </a:pPr>
            <a:r>
              <a:rPr lang="en-US" sz="1400" dirty="0">
                <a:solidFill>
                  <a:srgbClr val="B0BAD0"/>
                </a:solidFill>
                <a:latin typeface="Calibri" pitchFamily="34" charset="0"/>
                <a:ea typeface="Calibri" pitchFamily="34" charset="-122"/>
                <a:cs typeface="Calibri" pitchFamily="34" charset="-120"/>
              </a:rPr>
              <a:t>sin modificar el nucleo ya probado. Riesgo de regresion practicamente nulo.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Privacidad y Seguridad por Diseno</a:t>
            </a:r>
            <a:endParaRPr lang="en-US" sz="2800" dirty="0"/>
          </a:p>
        </p:txBody>
      </p:sp>
      <p:sp>
        <p:nvSpPr>
          <p:cNvPr id="3" name="Shape 1"/>
          <p:cNvSpPr/>
          <p:nvPr/>
        </p:nvSpPr>
        <p:spPr>
          <a:xfrm>
            <a:off x="365760" y="777240"/>
            <a:ext cx="8412480" cy="36576"/>
          </a:xfrm>
          <a:prstGeom prst="rect">
            <a:avLst/>
          </a:prstGeom>
          <a:solidFill>
            <a:srgbClr val="3FB950"/>
          </a:solidFill>
          <a:ln w="12700">
            <a:solidFill>
              <a:srgbClr val="3FB950"/>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14 / 19</a:t>
            </a:r>
            <a:endParaRPr lang="en-US" sz="1000" dirty="0"/>
          </a:p>
        </p:txBody>
      </p:sp>
      <p:sp>
        <p:nvSpPr>
          <p:cNvPr id="5" name="Shape 3"/>
          <p:cNvSpPr/>
          <p:nvPr/>
        </p:nvSpPr>
        <p:spPr>
          <a:xfrm>
            <a:off x="365760" y="1188720"/>
            <a:ext cx="2011680" cy="914400"/>
          </a:xfrm>
          <a:prstGeom prst="roundRect">
            <a:avLst>
              <a:gd name="adj" fmla="val 10000"/>
            </a:avLst>
          </a:prstGeom>
          <a:solidFill>
            <a:srgbClr val="222840"/>
          </a:solidFill>
          <a:ln/>
          <a:effectLst>
            <a:outerShdw sx="100000" sy="100000" kx="0" ky="0" algn="bl" rotWithShape="0" blurRad="101600" dist="38100" dir="2700000">
              <a:srgbClr val="000000">
                <a:alpha val="25000"/>
              </a:srgbClr>
            </a:outerShdw>
          </a:effectLst>
        </p:spPr>
      </p:sp>
      <p:sp>
        <p:nvSpPr>
          <p:cNvPr id="6" name="Text 4"/>
          <p:cNvSpPr/>
          <p:nvPr/>
        </p:nvSpPr>
        <p:spPr>
          <a:xfrm>
            <a:off x="365760" y="1188720"/>
            <a:ext cx="2011680" cy="914400"/>
          </a:xfrm>
          <a:prstGeom prst="rect">
            <a:avLst/>
          </a:prstGeom>
          <a:noFill/>
          <a:ln/>
        </p:spPr>
        <p:txBody>
          <a:bodyPr wrap="square" rtlCol="0" anchor="ctr"/>
          <a:lstStyle/>
          <a:p>
            <a:pPr algn="ctr" indent="0" marL="0">
              <a:buNone/>
            </a:pPr>
            <a:r>
              <a:rPr lang="en-US" sz="1200" b="1" dirty="0">
                <a:solidFill>
                  <a:srgbClr val="3FB950"/>
                </a:solidFill>
                <a:latin typeface="Calibri" pitchFamily="34" charset="0"/>
                <a:ea typeface="Calibri" pitchFamily="34" charset="-122"/>
                <a:cs typeface="Calibri" pitchFamily="34" charset="-120"/>
              </a:rPr>
              <a:t>Tu voz</a:t>
            </a:r>
            <a:endParaRPr lang="en-US" sz="1200" dirty="0"/>
          </a:p>
          <a:p>
            <a:pPr algn="ctr" indent="0" marL="0">
              <a:buNone/>
            </a:pPr>
            <a:r>
              <a:rPr lang="en-US" sz="1200" b="1" dirty="0">
                <a:solidFill>
                  <a:srgbClr val="3FB950"/>
                </a:solidFill>
                <a:latin typeface="Calibri" pitchFamily="34" charset="0"/>
                <a:ea typeface="Calibri" pitchFamily="34" charset="-122"/>
                <a:cs typeface="Calibri" pitchFamily="34" charset="-120"/>
              </a:rPr>
              <a:t>(microfono)</a:t>
            </a:r>
            <a:endParaRPr lang="en-US" sz="1200" dirty="0"/>
          </a:p>
        </p:txBody>
      </p:sp>
      <p:sp>
        <p:nvSpPr>
          <p:cNvPr id="7" name="Shape 5"/>
          <p:cNvSpPr/>
          <p:nvPr/>
        </p:nvSpPr>
        <p:spPr>
          <a:xfrm>
            <a:off x="2377440" y="1600200"/>
            <a:ext cx="548640" cy="91440"/>
          </a:xfrm>
          <a:prstGeom prst="rect">
            <a:avLst/>
          </a:prstGeom>
          <a:solidFill>
            <a:srgbClr val="3FB950"/>
          </a:solidFill>
          <a:ln w="12700">
            <a:solidFill>
              <a:srgbClr val="3FB950"/>
            </a:solidFill>
            <a:prstDash val="solid"/>
          </a:ln>
        </p:spPr>
      </p:sp>
      <p:sp>
        <p:nvSpPr>
          <p:cNvPr id="8" name="Shape 6"/>
          <p:cNvSpPr/>
          <p:nvPr/>
        </p:nvSpPr>
        <p:spPr>
          <a:xfrm>
            <a:off x="2560320" y="1188720"/>
            <a:ext cx="2011680" cy="914400"/>
          </a:xfrm>
          <a:prstGeom prst="roundRect">
            <a:avLst>
              <a:gd name="adj" fmla="val 10000"/>
            </a:avLst>
          </a:prstGeom>
          <a:solidFill>
            <a:srgbClr val="222840"/>
          </a:solidFill>
          <a:ln/>
          <a:effectLst>
            <a:outerShdw sx="100000" sy="100000" kx="0" ky="0" algn="bl" rotWithShape="0" blurRad="101600" dist="38100" dir="2700000">
              <a:srgbClr val="000000">
                <a:alpha val="25000"/>
              </a:srgbClr>
            </a:outerShdw>
          </a:effectLst>
        </p:spPr>
      </p:sp>
      <p:sp>
        <p:nvSpPr>
          <p:cNvPr id="9" name="Text 7"/>
          <p:cNvSpPr/>
          <p:nvPr/>
        </p:nvSpPr>
        <p:spPr>
          <a:xfrm>
            <a:off x="2560320" y="1188720"/>
            <a:ext cx="2011680" cy="914400"/>
          </a:xfrm>
          <a:prstGeom prst="rect">
            <a:avLst/>
          </a:prstGeom>
          <a:noFill/>
          <a:ln/>
        </p:spPr>
        <p:txBody>
          <a:bodyPr wrap="square" rtlCol="0" anchor="ctr"/>
          <a:lstStyle/>
          <a:p>
            <a:pPr algn="ctr" indent="0" marL="0">
              <a:buNone/>
            </a:pPr>
            <a:r>
              <a:rPr lang="en-US" sz="1200" b="1" dirty="0">
                <a:solidFill>
                  <a:srgbClr val="3FB950"/>
                </a:solidFill>
                <a:latin typeface="Calibri" pitchFamily="34" charset="0"/>
                <a:ea typeface="Calibri" pitchFamily="34" charset="-122"/>
                <a:cs typeface="Calibri" pitchFamily="34" charset="-120"/>
              </a:rPr>
              <a:t>Silero-VAD</a:t>
            </a:r>
            <a:endParaRPr lang="en-US" sz="1200" dirty="0"/>
          </a:p>
          <a:p>
            <a:pPr algn="ctr" indent="0" marL="0">
              <a:buNone/>
            </a:pPr>
            <a:r>
              <a:rPr lang="en-US" sz="1200" b="1" dirty="0">
                <a:solidFill>
                  <a:srgbClr val="3FB950"/>
                </a:solidFill>
                <a:latin typeface="Calibri" pitchFamily="34" charset="0"/>
                <a:ea typeface="Calibri" pitchFamily="34" charset="-122"/>
                <a:cs typeface="Calibri" pitchFamily="34" charset="-120"/>
              </a:rPr>
              <a:t>(CPU local)</a:t>
            </a:r>
            <a:endParaRPr lang="en-US" sz="1200" dirty="0"/>
          </a:p>
        </p:txBody>
      </p:sp>
      <p:sp>
        <p:nvSpPr>
          <p:cNvPr id="10" name="Shape 8"/>
          <p:cNvSpPr/>
          <p:nvPr/>
        </p:nvSpPr>
        <p:spPr>
          <a:xfrm>
            <a:off x="4572000" y="1600200"/>
            <a:ext cx="548640" cy="91440"/>
          </a:xfrm>
          <a:prstGeom prst="rect">
            <a:avLst/>
          </a:prstGeom>
          <a:solidFill>
            <a:srgbClr val="3FB950"/>
          </a:solidFill>
          <a:ln w="12700">
            <a:solidFill>
              <a:srgbClr val="3FB950"/>
            </a:solidFill>
            <a:prstDash val="solid"/>
          </a:ln>
        </p:spPr>
      </p:sp>
      <p:sp>
        <p:nvSpPr>
          <p:cNvPr id="11" name="Shape 9"/>
          <p:cNvSpPr/>
          <p:nvPr/>
        </p:nvSpPr>
        <p:spPr>
          <a:xfrm>
            <a:off x="4754880" y="1188720"/>
            <a:ext cx="2011680" cy="914400"/>
          </a:xfrm>
          <a:prstGeom prst="roundRect">
            <a:avLst>
              <a:gd name="adj" fmla="val 10000"/>
            </a:avLst>
          </a:prstGeom>
          <a:solidFill>
            <a:srgbClr val="222840"/>
          </a:solidFill>
          <a:ln/>
          <a:effectLst>
            <a:outerShdw sx="100000" sy="100000" kx="0" ky="0" algn="bl" rotWithShape="0" blurRad="101600" dist="38100" dir="2700000">
              <a:srgbClr val="000000">
                <a:alpha val="25000"/>
              </a:srgbClr>
            </a:outerShdw>
          </a:effectLst>
        </p:spPr>
      </p:sp>
      <p:sp>
        <p:nvSpPr>
          <p:cNvPr id="12" name="Text 10"/>
          <p:cNvSpPr/>
          <p:nvPr/>
        </p:nvSpPr>
        <p:spPr>
          <a:xfrm>
            <a:off x="4754880" y="1188720"/>
            <a:ext cx="2011680" cy="914400"/>
          </a:xfrm>
          <a:prstGeom prst="rect">
            <a:avLst/>
          </a:prstGeom>
          <a:noFill/>
          <a:ln/>
        </p:spPr>
        <p:txBody>
          <a:bodyPr wrap="square" rtlCol="0" anchor="ctr"/>
          <a:lstStyle/>
          <a:p>
            <a:pPr algn="ctr" indent="0" marL="0">
              <a:buNone/>
            </a:pPr>
            <a:r>
              <a:rPr lang="en-US" sz="1200" b="1" dirty="0">
                <a:solidFill>
                  <a:srgbClr val="3FB950"/>
                </a:solidFill>
                <a:latin typeface="Calibri" pitchFamily="34" charset="0"/>
                <a:ea typeface="Calibri" pitchFamily="34" charset="-122"/>
                <a:cs typeface="Calibri" pitchFamily="34" charset="-120"/>
              </a:rPr>
              <a:t>Whisper</a:t>
            </a:r>
            <a:endParaRPr lang="en-US" sz="1200" dirty="0"/>
          </a:p>
          <a:p>
            <a:pPr algn="ctr" indent="0" marL="0">
              <a:buNone/>
            </a:pPr>
            <a:r>
              <a:rPr lang="en-US" sz="1200" b="1" dirty="0">
                <a:solidFill>
                  <a:srgbClr val="3FB950"/>
                </a:solidFill>
                <a:latin typeface="Calibri" pitchFamily="34" charset="0"/>
                <a:ea typeface="Calibri" pitchFamily="34" charset="-122"/>
                <a:cs typeface="Calibri" pitchFamily="34" charset="-120"/>
              </a:rPr>
              <a:t>(CPU/GPU local)</a:t>
            </a:r>
            <a:endParaRPr lang="en-US" sz="1200" dirty="0"/>
          </a:p>
        </p:txBody>
      </p:sp>
      <p:sp>
        <p:nvSpPr>
          <p:cNvPr id="13" name="Shape 11"/>
          <p:cNvSpPr/>
          <p:nvPr/>
        </p:nvSpPr>
        <p:spPr>
          <a:xfrm>
            <a:off x="6766560" y="1600200"/>
            <a:ext cx="548640" cy="91440"/>
          </a:xfrm>
          <a:prstGeom prst="rect">
            <a:avLst/>
          </a:prstGeom>
          <a:solidFill>
            <a:srgbClr val="3FB950"/>
          </a:solidFill>
          <a:ln w="12700">
            <a:solidFill>
              <a:srgbClr val="3FB950"/>
            </a:solidFill>
            <a:prstDash val="solid"/>
          </a:ln>
        </p:spPr>
      </p:sp>
      <p:sp>
        <p:nvSpPr>
          <p:cNvPr id="14" name="Shape 12"/>
          <p:cNvSpPr/>
          <p:nvPr/>
        </p:nvSpPr>
        <p:spPr>
          <a:xfrm>
            <a:off x="6949440" y="1188720"/>
            <a:ext cx="2011680" cy="914400"/>
          </a:xfrm>
          <a:prstGeom prst="roundRect">
            <a:avLst>
              <a:gd name="adj" fmla="val 10000"/>
            </a:avLst>
          </a:prstGeom>
          <a:solidFill>
            <a:srgbClr val="222840"/>
          </a:solidFill>
          <a:ln/>
          <a:effectLst>
            <a:outerShdw sx="100000" sy="100000" kx="0" ky="0" algn="bl" rotWithShape="0" blurRad="101600" dist="38100" dir="2700000">
              <a:srgbClr val="000000">
                <a:alpha val="25000"/>
              </a:srgbClr>
            </a:outerShdw>
          </a:effectLst>
        </p:spPr>
      </p:sp>
      <p:sp>
        <p:nvSpPr>
          <p:cNvPr id="15" name="Text 13"/>
          <p:cNvSpPr/>
          <p:nvPr/>
        </p:nvSpPr>
        <p:spPr>
          <a:xfrm>
            <a:off x="6949440" y="1188720"/>
            <a:ext cx="2011680" cy="914400"/>
          </a:xfrm>
          <a:prstGeom prst="rect">
            <a:avLst/>
          </a:prstGeom>
          <a:noFill/>
          <a:ln/>
        </p:spPr>
        <p:txBody>
          <a:bodyPr wrap="square" rtlCol="0" anchor="ctr"/>
          <a:lstStyle/>
          <a:p>
            <a:pPr algn="ctr" indent="0" marL="0">
              <a:buNone/>
            </a:pPr>
            <a:r>
              <a:rPr lang="en-US" sz="1200" b="1" dirty="0">
                <a:solidFill>
                  <a:srgbClr val="3FB950"/>
                </a:solidFill>
                <a:latin typeface="Calibri" pitchFamily="34" charset="0"/>
                <a:ea typeface="Calibri" pitchFamily="34" charset="-122"/>
                <a:cs typeface="Calibri" pitchFamily="34" charset="-120"/>
              </a:rPr>
              <a:t>Router +</a:t>
            </a:r>
            <a:endParaRPr lang="en-US" sz="1200" dirty="0"/>
          </a:p>
          <a:p>
            <a:pPr algn="ctr" indent="0" marL="0">
              <a:buNone/>
            </a:pPr>
            <a:r>
              <a:rPr lang="en-US" sz="1200" b="1" dirty="0">
                <a:solidFill>
                  <a:srgbClr val="3FB950"/>
                </a:solidFill>
                <a:latin typeface="Calibri" pitchFamily="34" charset="0"/>
                <a:ea typeface="Calibri" pitchFamily="34" charset="-122"/>
                <a:cs typeface="Calibri" pitchFamily="34" charset="-120"/>
              </a:rPr>
              <a:t>LLM local</a:t>
            </a:r>
            <a:endParaRPr lang="en-US" sz="1200" dirty="0"/>
          </a:p>
        </p:txBody>
      </p:sp>
      <p:sp>
        <p:nvSpPr>
          <p:cNvPr id="16" name="Text 14"/>
          <p:cNvSpPr/>
          <p:nvPr/>
        </p:nvSpPr>
        <p:spPr>
          <a:xfrm>
            <a:off x="365760" y="2286000"/>
            <a:ext cx="8595360" cy="411480"/>
          </a:xfrm>
          <a:prstGeom prst="rect">
            <a:avLst/>
          </a:prstGeom>
          <a:noFill/>
          <a:ln/>
        </p:spPr>
        <p:txBody>
          <a:bodyPr wrap="square" rtlCol="0" anchor="ctr"/>
          <a:lstStyle/>
          <a:p>
            <a:pPr algn="ctr" indent="0" marL="0">
              <a:buNone/>
            </a:pPr>
            <a:r>
              <a:rPr lang="en-US" sz="1600" b="1" dirty="0">
                <a:solidFill>
                  <a:srgbClr val="3FB950"/>
                </a:solidFill>
              </a:rPr>
              <a:t>TODO dentro del equipo</a:t>
            </a:r>
            <a:endParaRPr lang="en-US" sz="1600" dirty="0"/>
          </a:p>
        </p:txBody>
      </p:sp>
      <p:sp>
        <p:nvSpPr>
          <p:cNvPr id="17" name="Shape 15"/>
          <p:cNvSpPr/>
          <p:nvPr/>
        </p:nvSpPr>
        <p:spPr>
          <a:xfrm>
            <a:off x="365760" y="2788920"/>
            <a:ext cx="8412480" cy="2011680"/>
          </a:xfrm>
          <a:prstGeom prst="roundRect">
            <a:avLst>
              <a:gd name="adj" fmla="val 4545"/>
            </a:avLst>
          </a:prstGeom>
          <a:solidFill>
            <a:srgbClr val="222840"/>
          </a:solidFill>
          <a:ln/>
        </p:spPr>
      </p:sp>
      <p:sp>
        <p:nvSpPr>
          <p:cNvPr id="18" name="Text 16"/>
          <p:cNvSpPr/>
          <p:nvPr/>
        </p:nvSpPr>
        <p:spPr>
          <a:xfrm>
            <a:off x="594360" y="2907792"/>
            <a:ext cx="7955280" cy="256032"/>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  Ningun audio sale del equipo</a:t>
            </a:r>
            <a:endParaRPr lang="en-US" sz="1300" dirty="0"/>
          </a:p>
        </p:txBody>
      </p:sp>
      <p:sp>
        <p:nvSpPr>
          <p:cNvPr id="19" name="Text 17"/>
          <p:cNvSpPr/>
          <p:nvPr/>
        </p:nvSpPr>
        <p:spPr>
          <a:xfrm>
            <a:off x="868680" y="3163824"/>
            <a:ext cx="7680960" cy="292608"/>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La captura, VAD, STT y LLM corren completamente locales.</a:t>
            </a:r>
            <a:endParaRPr lang="en-US" sz="1100" dirty="0"/>
          </a:p>
        </p:txBody>
      </p:sp>
      <p:sp>
        <p:nvSpPr>
          <p:cNvPr id="20" name="Text 18"/>
          <p:cNvSpPr/>
          <p:nvPr/>
        </p:nvSpPr>
        <p:spPr>
          <a:xfrm>
            <a:off x="594360" y="3520440"/>
            <a:ext cx="7955280" cy="256032"/>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  Unica llamada de red (opcional)</a:t>
            </a:r>
            <a:endParaRPr lang="en-US" sz="1300" dirty="0"/>
          </a:p>
        </p:txBody>
      </p:sp>
      <p:sp>
        <p:nvSpPr>
          <p:cNvPr id="21" name="Text 19"/>
          <p:cNvSpPr/>
          <p:nvPr/>
        </p:nvSpPr>
        <p:spPr>
          <a:xfrm>
            <a:off x="868680" y="3776472"/>
            <a:ext cx="7680960" cy="292608"/>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Consulta de clima a Open-Meteo sin datos personales. Descarga inicial del modelo LLM (~4,5 GB) una sola vez.</a:t>
            </a:r>
            <a:endParaRPr lang="en-US" sz="1100" dirty="0"/>
          </a:p>
        </p:txBody>
      </p:sp>
      <p:sp>
        <p:nvSpPr>
          <p:cNvPr id="22" name="Text 20"/>
          <p:cNvSpPr/>
          <p:nvPr/>
        </p:nvSpPr>
        <p:spPr>
          <a:xfrm>
            <a:off x="594360" y="4133088"/>
            <a:ext cx="7955280" cy="256032"/>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  Desinstalacion limpia</a:t>
            </a:r>
            <a:endParaRPr lang="en-US" sz="1300" dirty="0"/>
          </a:p>
        </p:txBody>
      </p:sp>
      <p:sp>
        <p:nvSpPr>
          <p:cNvPr id="23" name="Text 21"/>
          <p:cNvSpPr/>
          <p:nvPr/>
        </p:nvSpPr>
        <p:spPr>
          <a:xfrm>
            <a:off x="868680" y="4389120"/>
            <a:ext cx="7680960" cy="292608"/>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Borrar data/ + venv/ elimina SOFIA completamente sin residuos en el sistema.</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Stack Tecnologico</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15 / 19</a:t>
            </a:r>
            <a:endParaRPr lang="en-US" sz="1000" dirty="0"/>
          </a:p>
        </p:txBody>
      </p:sp>
      <p:sp>
        <p:nvSpPr>
          <p:cNvPr id="5" name="Shape 3"/>
          <p:cNvSpPr/>
          <p:nvPr/>
        </p:nvSpPr>
        <p:spPr>
          <a:xfrm>
            <a:off x="274320" y="1005840"/>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6" name="Text 4"/>
          <p:cNvSpPr/>
          <p:nvPr/>
        </p:nvSpPr>
        <p:spPr>
          <a:xfrm>
            <a:off x="274320" y="1097280"/>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Python 3.10–3.12</a:t>
            </a:r>
            <a:endParaRPr lang="en-US" sz="1300" dirty="0"/>
          </a:p>
        </p:txBody>
      </p:sp>
      <p:sp>
        <p:nvSpPr>
          <p:cNvPr id="7" name="Text 5"/>
          <p:cNvSpPr/>
          <p:nvPr/>
        </p:nvSpPr>
        <p:spPr>
          <a:xfrm>
            <a:off x="274320" y="1554480"/>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Lenguaje base</a:t>
            </a:r>
            <a:endParaRPr lang="en-US" sz="1100" dirty="0"/>
          </a:p>
        </p:txBody>
      </p:sp>
      <p:sp>
        <p:nvSpPr>
          <p:cNvPr id="8" name="Shape 6"/>
          <p:cNvSpPr/>
          <p:nvPr/>
        </p:nvSpPr>
        <p:spPr>
          <a:xfrm>
            <a:off x="2423160" y="1005840"/>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9" name="Text 7"/>
          <p:cNvSpPr/>
          <p:nvPr/>
        </p:nvSpPr>
        <p:spPr>
          <a:xfrm>
            <a:off x="2423160" y="1097280"/>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Faster-Whisper</a:t>
            </a:r>
            <a:endParaRPr lang="en-US" sz="1300" dirty="0"/>
          </a:p>
        </p:txBody>
      </p:sp>
      <p:sp>
        <p:nvSpPr>
          <p:cNvPr id="10" name="Text 8"/>
          <p:cNvSpPr/>
          <p:nvPr/>
        </p:nvSpPr>
        <p:spPr>
          <a:xfrm>
            <a:off x="2423160" y="1554480"/>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STT (CTranslate2)</a:t>
            </a:r>
            <a:endParaRPr lang="en-US" sz="1100" dirty="0"/>
          </a:p>
        </p:txBody>
      </p:sp>
      <p:sp>
        <p:nvSpPr>
          <p:cNvPr id="11" name="Shape 9"/>
          <p:cNvSpPr/>
          <p:nvPr/>
        </p:nvSpPr>
        <p:spPr>
          <a:xfrm>
            <a:off x="4572000" y="1005840"/>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12" name="Text 10"/>
          <p:cNvSpPr/>
          <p:nvPr/>
        </p:nvSpPr>
        <p:spPr>
          <a:xfrm>
            <a:off x="4572000" y="1097280"/>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Silero-VAD</a:t>
            </a:r>
            <a:endParaRPr lang="en-US" sz="1300" dirty="0"/>
          </a:p>
        </p:txBody>
      </p:sp>
      <p:sp>
        <p:nvSpPr>
          <p:cNvPr id="13" name="Text 11"/>
          <p:cNvSpPr/>
          <p:nvPr/>
        </p:nvSpPr>
        <p:spPr>
          <a:xfrm>
            <a:off x="4572000" y="1554480"/>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Deteccion de voz</a:t>
            </a:r>
            <a:endParaRPr lang="en-US" sz="1100" dirty="0"/>
          </a:p>
        </p:txBody>
      </p:sp>
      <p:sp>
        <p:nvSpPr>
          <p:cNvPr id="14" name="Shape 12"/>
          <p:cNvSpPr/>
          <p:nvPr/>
        </p:nvSpPr>
        <p:spPr>
          <a:xfrm>
            <a:off x="6720840" y="1005840"/>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15" name="Text 13"/>
          <p:cNvSpPr/>
          <p:nvPr/>
        </p:nvSpPr>
        <p:spPr>
          <a:xfrm>
            <a:off x="6720840" y="1097280"/>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llama-cpp-python</a:t>
            </a:r>
            <a:endParaRPr lang="en-US" sz="1300" dirty="0"/>
          </a:p>
        </p:txBody>
      </p:sp>
      <p:sp>
        <p:nvSpPr>
          <p:cNvPr id="16" name="Text 14"/>
          <p:cNvSpPr/>
          <p:nvPr/>
        </p:nvSpPr>
        <p:spPr>
          <a:xfrm>
            <a:off x="6720840" y="1554480"/>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LLM local</a:t>
            </a:r>
            <a:endParaRPr lang="en-US" sz="1100" dirty="0"/>
          </a:p>
        </p:txBody>
      </p:sp>
      <p:sp>
        <p:nvSpPr>
          <p:cNvPr id="17" name="Shape 15"/>
          <p:cNvSpPr/>
          <p:nvPr/>
        </p:nvSpPr>
        <p:spPr>
          <a:xfrm>
            <a:off x="274320" y="2304288"/>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18" name="Text 16"/>
          <p:cNvSpPr/>
          <p:nvPr/>
        </p:nvSpPr>
        <p:spPr>
          <a:xfrm>
            <a:off x="274320" y="2395728"/>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Qwen3-8B-Q4_K_M</a:t>
            </a:r>
            <a:endParaRPr lang="en-US" sz="1300" dirty="0"/>
          </a:p>
        </p:txBody>
      </p:sp>
      <p:sp>
        <p:nvSpPr>
          <p:cNvPr id="19" name="Text 17"/>
          <p:cNvSpPr/>
          <p:nvPr/>
        </p:nvSpPr>
        <p:spPr>
          <a:xfrm>
            <a:off x="274320" y="2852928"/>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Modelo conversacional</a:t>
            </a:r>
            <a:endParaRPr lang="en-US" sz="1100" dirty="0"/>
          </a:p>
        </p:txBody>
      </p:sp>
      <p:sp>
        <p:nvSpPr>
          <p:cNvPr id="20" name="Shape 18"/>
          <p:cNvSpPr/>
          <p:nvPr/>
        </p:nvSpPr>
        <p:spPr>
          <a:xfrm>
            <a:off x="2423160" y="2304288"/>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21" name="Text 19"/>
          <p:cNvSpPr/>
          <p:nvPr/>
        </p:nvSpPr>
        <p:spPr>
          <a:xfrm>
            <a:off x="2423160" y="2395728"/>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Qwen3-TTS-0.6B</a:t>
            </a:r>
            <a:endParaRPr lang="en-US" sz="1300" dirty="0"/>
          </a:p>
        </p:txBody>
      </p:sp>
      <p:sp>
        <p:nvSpPr>
          <p:cNvPr id="22" name="Text 20"/>
          <p:cNvSpPr/>
          <p:nvPr/>
        </p:nvSpPr>
        <p:spPr>
          <a:xfrm>
            <a:off x="2423160" y="2852928"/>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Sintesis de voz GPU</a:t>
            </a:r>
            <a:endParaRPr lang="en-US" sz="1100" dirty="0"/>
          </a:p>
        </p:txBody>
      </p:sp>
      <p:sp>
        <p:nvSpPr>
          <p:cNvPr id="23" name="Shape 21"/>
          <p:cNvSpPr/>
          <p:nvPr/>
        </p:nvSpPr>
        <p:spPr>
          <a:xfrm>
            <a:off x="4572000" y="2304288"/>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24" name="Text 22"/>
          <p:cNvSpPr/>
          <p:nvPr/>
        </p:nvSpPr>
        <p:spPr>
          <a:xfrm>
            <a:off x="4572000" y="2395728"/>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pyttsx3</a:t>
            </a:r>
            <a:endParaRPr lang="en-US" sz="1300" dirty="0"/>
          </a:p>
        </p:txBody>
      </p:sp>
      <p:sp>
        <p:nvSpPr>
          <p:cNvPr id="25" name="Text 23"/>
          <p:cNvSpPr/>
          <p:nvPr/>
        </p:nvSpPr>
        <p:spPr>
          <a:xfrm>
            <a:off x="4572000" y="2852928"/>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TTS offline rapido</a:t>
            </a:r>
            <a:endParaRPr lang="en-US" sz="1100" dirty="0"/>
          </a:p>
        </p:txBody>
      </p:sp>
      <p:sp>
        <p:nvSpPr>
          <p:cNvPr id="26" name="Shape 24"/>
          <p:cNvSpPr/>
          <p:nvPr/>
        </p:nvSpPr>
        <p:spPr>
          <a:xfrm>
            <a:off x="6720840" y="2304288"/>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27" name="Text 25"/>
          <p:cNvSpPr/>
          <p:nvPr/>
        </p:nvSpPr>
        <p:spPr>
          <a:xfrm>
            <a:off x="6720840" y="2395728"/>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PyQt6</a:t>
            </a:r>
            <a:endParaRPr lang="en-US" sz="1300" dirty="0"/>
          </a:p>
        </p:txBody>
      </p:sp>
      <p:sp>
        <p:nvSpPr>
          <p:cNvPr id="28" name="Text 26"/>
          <p:cNvSpPr/>
          <p:nvPr/>
        </p:nvSpPr>
        <p:spPr>
          <a:xfrm>
            <a:off x="6720840" y="2852928"/>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Interfaz grafica</a:t>
            </a:r>
            <a:endParaRPr lang="en-US" sz="1100" dirty="0"/>
          </a:p>
        </p:txBody>
      </p:sp>
      <p:sp>
        <p:nvSpPr>
          <p:cNvPr id="29" name="Shape 27"/>
          <p:cNvSpPr/>
          <p:nvPr/>
        </p:nvSpPr>
        <p:spPr>
          <a:xfrm>
            <a:off x="274320" y="3602736"/>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30" name="Text 28"/>
          <p:cNvSpPr/>
          <p:nvPr/>
        </p:nvSpPr>
        <p:spPr>
          <a:xfrm>
            <a:off x="274320" y="3694176"/>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pywinauto</a:t>
            </a:r>
            <a:endParaRPr lang="en-US" sz="1300" dirty="0"/>
          </a:p>
        </p:txBody>
      </p:sp>
      <p:sp>
        <p:nvSpPr>
          <p:cNvPr id="31" name="Text 29"/>
          <p:cNvSpPr/>
          <p:nvPr/>
        </p:nvSpPr>
        <p:spPr>
          <a:xfrm>
            <a:off x="274320" y="4151376"/>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Control de escritorio</a:t>
            </a:r>
            <a:endParaRPr lang="en-US" sz="1100" dirty="0"/>
          </a:p>
        </p:txBody>
      </p:sp>
      <p:sp>
        <p:nvSpPr>
          <p:cNvPr id="32" name="Shape 30"/>
          <p:cNvSpPr/>
          <p:nvPr/>
        </p:nvSpPr>
        <p:spPr>
          <a:xfrm>
            <a:off x="2423160" y="3602736"/>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33" name="Text 31"/>
          <p:cNvSpPr/>
          <p:nvPr/>
        </p:nvSpPr>
        <p:spPr>
          <a:xfrm>
            <a:off x="2423160" y="3694176"/>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sounddevice</a:t>
            </a:r>
            <a:endParaRPr lang="en-US" sz="1300" dirty="0"/>
          </a:p>
        </p:txBody>
      </p:sp>
      <p:sp>
        <p:nvSpPr>
          <p:cNvPr id="34" name="Text 32"/>
          <p:cNvSpPr/>
          <p:nvPr/>
        </p:nvSpPr>
        <p:spPr>
          <a:xfrm>
            <a:off x="2423160" y="4151376"/>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Captura de audio</a:t>
            </a:r>
            <a:endParaRPr lang="en-US" sz="1100" dirty="0"/>
          </a:p>
        </p:txBody>
      </p:sp>
      <p:sp>
        <p:nvSpPr>
          <p:cNvPr id="35" name="Shape 33"/>
          <p:cNvSpPr/>
          <p:nvPr/>
        </p:nvSpPr>
        <p:spPr>
          <a:xfrm>
            <a:off x="4572000" y="3602736"/>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36" name="Text 34"/>
          <p:cNvSpPr/>
          <p:nvPr/>
        </p:nvSpPr>
        <p:spPr>
          <a:xfrm>
            <a:off x="4572000" y="3694176"/>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Open-Meteo API</a:t>
            </a:r>
            <a:endParaRPr lang="en-US" sz="1300" dirty="0"/>
          </a:p>
        </p:txBody>
      </p:sp>
      <p:sp>
        <p:nvSpPr>
          <p:cNvPr id="37" name="Text 35"/>
          <p:cNvSpPr/>
          <p:nvPr/>
        </p:nvSpPr>
        <p:spPr>
          <a:xfrm>
            <a:off x="4572000" y="4151376"/>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Clima sin API key</a:t>
            </a:r>
            <a:endParaRPr lang="en-US" sz="1100" dirty="0"/>
          </a:p>
        </p:txBody>
      </p:sp>
      <p:sp>
        <p:nvSpPr>
          <p:cNvPr id="38" name="Shape 36"/>
          <p:cNvSpPr/>
          <p:nvPr/>
        </p:nvSpPr>
        <p:spPr>
          <a:xfrm>
            <a:off x="6720840" y="3602736"/>
            <a:ext cx="2011680" cy="1143000"/>
          </a:xfrm>
          <a:prstGeom prst="roundRect">
            <a:avLst>
              <a:gd name="adj" fmla="val 8000"/>
            </a:avLst>
          </a:prstGeom>
          <a:solidFill>
            <a:srgbClr val="222840"/>
          </a:solidFill>
          <a:ln/>
          <a:effectLst>
            <a:outerShdw sx="100000" sy="100000" kx="0" ky="0" algn="bl" rotWithShape="0" blurRad="101600" dist="38100" dir="2700000">
              <a:srgbClr val="000000">
                <a:alpha val="25000"/>
              </a:srgbClr>
            </a:outerShdw>
          </a:effectLst>
        </p:spPr>
      </p:sp>
      <p:sp>
        <p:nvSpPr>
          <p:cNvPr id="39" name="Text 37"/>
          <p:cNvSpPr/>
          <p:nvPr/>
        </p:nvSpPr>
        <p:spPr>
          <a:xfrm>
            <a:off x="6720840" y="3694176"/>
            <a:ext cx="2011680" cy="45720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HuggingFace Hub</a:t>
            </a:r>
            <a:endParaRPr lang="en-US" sz="1300" dirty="0"/>
          </a:p>
        </p:txBody>
      </p:sp>
      <p:sp>
        <p:nvSpPr>
          <p:cNvPr id="40" name="Text 38"/>
          <p:cNvSpPr/>
          <p:nvPr/>
        </p:nvSpPr>
        <p:spPr>
          <a:xfrm>
            <a:off x="6720840" y="4151376"/>
            <a:ext cx="2011680" cy="530352"/>
          </a:xfrm>
          <a:prstGeom prst="rect">
            <a:avLst/>
          </a:prstGeom>
          <a:noFill/>
          <a:ln/>
        </p:spPr>
        <p:txBody>
          <a:bodyPr wrap="square" rtlCol="0" anchor="t"/>
          <a:lstStyle/>
          <a:p>
            <a:pPr algn="ctr" indent="0" marL="0">
              <a:buNone/>
            </a:pPr>
            <a:r>
              <a:rPr lang="en-US" sz="1100" dirty="0">
                <a:solidFill>
                  <a:srgbClr val="B0BAD0"/>
                </a:solidFill>
                <a:latin typeface="Calibri" pitchFamily="34" charset="0"/>
                <a:ea typeface="Calibri" pitchFamily="34" charset="-122"/>
                <a:cs typeface="Calibri" pitchFamily="34" charset="-120"/>
              </a:rPr>
              <a:t>Descarga de modelos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Resultados y Metricas</a:t>
            </a:r>
            <a:endParaRPr lang="en-US" sz="2800" dirty="0"/>
          </a:p>
        </p:txBody>
      </p:sp>
      <p:sp>
        <p:nvSpPr>
          <p:cNvPr id="3" name="Shape 1"/>
          <p:cNvSpPr/>
          <p:nvPr/>
        </p:nvSpPr>
        <p:spPr>
          <a:xfrm>
            <a:off x="365760" y="777240"/>
            <a:ext cx="8412480" cy="36576"/>
          </a:xfrm>
          <a:prstGeom prst="rect">
            <a:avLst/>
          </a:prstGeom>
          <a:solidFill>
            <a:srgbClr val="4CC9F0"/>
          </a:solidFill>
          <a:ln w="12700">
            <a:solidFill>
              <a:srgbClr val="4CC9F0"/>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16 / 19</a:t>
            </a:r>
            <a:endParaRPr lang="en-US" sz="1000" dirty="0"/>
          </a:p>
        </p:txBody>
      </p:sp>
      <p:sp>
        <p:nvSpPr>
          <p:cNvPr id="5" name="Shape 3"/>
          <p:cNvSpPr/>
          <p:nvPr/>
        </p:nvSpPr>
        <p:spPr>
          <a:xfrm>
            <a:off x="320040" y="1005840"/>
            <a:ext cx="1828800" cy="1005840"/>
          </a:xfrm>
          <a:prstGeom prst="roundRect">
            <a:avLst>
              <a:gd name="adj" fmla="val 9091"/>
            </a:avLst>
          </a:prstGeom>
          <a:solidFill>
            <a:srgbClr val="222840"/>
          </a:solidFill>
          <a:ln/>
          <a:effectLst>
            <a:outerShdw sx="100000" sy="100000" kx="0" ky="0" algn="bl" rotWithShape="0" blurRad="101600" dist="38100" dir="2700000">
              <a:srgbClr val="000000">
                <a:alpha val="25000"/>
              </a:srgbClr>
            </a:outerShdw>
          </a:effectLst>
        </p:spPr>
      </p:sp>
      <p:sp>
        <p:nvSpPr>
          <p:cNvPr id="6" name="Text 4"/>
          <p:cNvSpPr/>
          <p:nvPr/>
        </p:nvSpPr>
        <p:spPr>
          <a:xfrm>
            <a:off x="320040" y="1051560"/>
            <a:ext cx="1828800" cy="548640"/>
          </a:xfrm>
          <a:prstGeom prst="rect">
            <a:avLst/>
          </a:prstGeom>
          <a:noFill/>
          <a:ln/>
        </p:spPr>
        <p:txBody>
          <a:bodyPr wrap="square" lIns="0" tIns="0" rIns="0" bIns="0" rtlCol="0" anchor="ctr"/>
          <a:lstStyle/>
          <a:p>
            <a:pPr algn="ctr" indent="0" marL="0">
              <a:buNone/>
            </a:pPr>
            <a:r>
              <a:rPr lang="en-US" sz="3600" b="1" dirty="0">
                <a:solidFill>
                  <a:srgbClr val="4CC9F0"/>
                </a:solidFill>
                <a:latin typeface="Calibri" pitchFamily="34" charset="0"/>
                <a:ea typeface="Calibri" pitchFamily="34" charset="-122"/>
                <a:cs typeface="Calibri" pitchFamily="34" charset="-120"/>
              </a:rPr>
              <a:t>8</a:t>
            </a:r>
            <a:endParaRPr lang="en-US" sz="3600" dirty="0"/>
          </a:p>
        </p:txBody>
      </p:sp>
      <p:sp>
        <p:nvSpPr>
          <p:cNvPr id="7" name="Text 5"/>
          <p:cNvSpPr/>
          <p:nvPr/>
        </p:nvSpPr>
        <p:spPr>
          <a:xfrm>
            <a:off x="320040" y="1600200"/>
            <a:ext cx="1828800" cy="384048"/>
          </a:xfrm>
          <a:prstGeom prst="rect">
            <a:avLst/>
          </a:prstGeom>
          <a:noFill/>
          <a:ln/>
        </p:spPr>
        <p:txBody>
          <a:bodyPr wrap="square" lIns="0" tIns="0" rIns="0" bIns="0" rtlCol="0" anchor="ctr"/>
          <a:lstStyle/>
          <a:p>
            <a:pPr algn="ctr" indent="0" marL="0">
              <a:buNone/>
            </a:pPr>
            <a:r>
              <a:rPr lang="en-US" sz="1100" dirty="0">
                <a:solidFill>
                  <a:srgbClr val="B0BAD0"/>
                </a:solidFill>
                <a:latin typeface="Calibri" pitchFamily="34" charset="0"/>
                <a:ea typeface="Calibri" pitchFamily="34" charset="-122"/>
                <a:cs typeface="Calibri" pitchFamily="34" charset="-120"/>
              </a:rPr>
              <a:t>Skills funcionales</a:t>
            </a:r>
            <a:endParaRPr lang="en-US" sz="1100" dirty="0"/>
          </a:p>
        </p:txBody>
      </p:sp>
      <p:sp>
        <p:nvSpPr>
          <p:cNvPr id="8" name="Shape 6"/>
          <p:cNvSpPr/>
          <p:nvPr/>
        </p:nvSpPr>
        <p:spPr>
          <a:xfrm>
            <a:off x="2423160" y="1005840"/>
            <a:ext cx="1828800" cy="1005840"/>
          </a:xfrm>
          <a:prstGeom prst="roundRect">
            <a:avLst>
              <a:gd name="adj" fmla="val 9091"/>
            </a:avLst>
          </a:prstGeom>
          <a:solidFill>
            <a:srgbClr val="222840"/>
          </a:solidFill>
          <a:ln/>
          <a:effectLst>
            <a:outerShdw sx="100000" sy="100000" kx="0" ky="0" algn="bl" rotWithShape="0" blurRad="101600" dist="38100" dir="2700000">
              <a:srgbClr val="000000">
                <a:alpha val="25000"/>
              </a:srgbClr>
            </a:outerShdw>
          </a:effectLst>
        </p:spPr>
      </p:sp>
      <p:sp>
        <p:nvSpPr>
          <p:cNvPr id="9" name="Text 7"/>
          <p:cNvSpPr/>
          <p:nvPr/>
        </p:nvSpPr>
        <p:spPr>
          <a:xfrm>
            <a:off x="2423160" y="1051560"/>
            <a:ext cx="1828800" cy="548640"/>
          </a:xfrm>
          <a:prstGeom prst="rect">
            <a:avLst/>
          </a:prstGeom>
          <a:noFill/>
          <a:ln/>
        </p:spPr>
        <p:txBody>
          <a:bodyPr wrap="square" lIns="0" tIns="0" rIns="0" bIns="0" rtlCol="0" anchor="ctr"/>
          <a:lstStyle/>
          <a:p>
            <a:pPr algn="ctr" indent="0" marL="0">
              <a:buNone/>
            </a:pPr>
            <a:r>
              <a:rPr lang="en-US" sz="3600" b="1" dirty="0">
                <a:solidFill>
                  <a:srgbClr val="7C5CFF"/>
                </a:solidFill>
                <a:latin typeface="Calibri" pitchFamily="34" charset="0"/>
                <a:ea typeface="Calibri" pitchFamily="34" charset="-122"/>
                <a:cs typeface="Calibri" pitchFamily="34" charset="-120"/>
              </a:rPr>
              <a:t>~3.2K</a:t>
            </a:r>
            <a:endParaRPr lang="en-US" sz="3600" dirty="0"/>
          </a:p>
        </p:txBody>
      </p:sp>
      <p:sp>
        <p:nvSpPr>
          <p:cNvPr id="10" name="Text 8"/>
          <p:cNvSpPr/>
          <p:nvPr/>
        </p:nvSpPr>
        <p:spPr>
          <a:xfrm>
            <a:off x="2423160" y="1600200"/>
            <a:ext cx="1828800" cy="384048"/>
          </a:xfrm>
          <a:prstGeom prst="rect">
            <a:avLst/>
          </a:prstGeom>
          <a:noFill/>
          <a:ln/>
        </p:spPr>
        <p:txBody>
          <a:bodyPr wrap="square" lIns="0" tIns="0" rIns="0" bIns="0" rtlCol="0" anchor="ctr"/>
          <a:lstStyle/>
          <a:p>
            <a:pPr algn="ctr" indent="0" marL="0">
              <a:buNone/>
            </a:pPr>
            <a:r>
              <a:rPr lang="en-US" sz="1100" dirty="0">
                <a:solidFill>
                  <a:srgbClr val="B0BAD0"/>
                </a:solidFill>
                <a:latin typeface="Calibri" pitchFamily="34" charset="0"/>
                <a:ea typeface="Calibri" pitchFamily="34" charset="-122"/>
                <a:cs typeface="Calibri" pitchFamily="34" charset="-120"/>
              </a:rPr>
              <a:t>Lineas de codigo</a:t>
            </a:r>
            <a:endParaRPr lang="en-US" sz="1100" dirty="0"/>
          </a:p>
        </p:txBody>
      </p:sp>
      <p:sp>
        <p:nvSpPr>
          <p:cNvPr id="11" name="Shape 9"/>
          <p:cNvSpPr/>
          <p:nvPr/>
        </p:nvSpPr>
        <p:spPr>
          <a:xfrm>
            <a:off x="4526280" y="1005840"/>
            <a:ext cx="1828800" cy="1005840"/>
          </a:xfrm>
          <a:prstGeom prst="roundRect">
            <a:avLst>
              <a:gd name="adj" fmla="val 9091"/>
            </a:avLst>
          </a:prstGeom>
          <a:solidFill>
            <a:srgbClr val="222840"/>
          </a:solidFill>
          <a:ln/>
          <a:effectLst>
            <a:outerShdw sx="100000" sy="100000" kx="0" ky="0" algn="bl" rotWithShape="0" blurRad="101600" dist="38100" dir="2700000">
              <a:srgbClr val="000000">
                <a:alpha val="25000"/>
              </a:srgbClr>
            </a:outerShdw>
          </a:effectLst>
        </p:spPr>
      </p:sp>
      <p:sp>
        <p:nvSpPr>
          <p:cNvPr id="12" name="Text 10"/>
          <p:cNvSpPr/>
          <p:nvPr/>
        </p:nvSpPr>
        <p:spPr>
          <a:xfrm>
            <a:off x="4526280" y="1051560"/>
            <a:ext cx="1828800" cy="548640"/>
          </a:xfrm>
          <a:prstGeom prst="rect">
            <a:avLst/>
          </a:prstGeom>
          <a:noFill/>
          <a:ln/>
        </p:spPr>
        <p:txBody>
          <a:bodyPr wrap="square" lIns="0" tIns="0" rIns="0" bIns="0" rtlCol="0" anchor="ctr"/>
          <a:lstStyle/>
          <a:p>
            <a:pPr algn="ctr" indent="0" marL="0">
              <a:buNone/>
            </a:pPr>
            <a:r>
              <a:rPr lang="en-US" sz="3600" b="1" dirty="0">
                <a:solidFill>
                  <a:srgbClr val="3FB950"/>
                </a:solidFill>
                <a:latin typeface="Calibri" pitchFamily="34" charset="0"/>
                <a:ea typeface="Calibri" pitchFamily="34" charset="-122"/>
                <a:cs typeface="Calibri" pitchFamily="34" charset="-120"/>
              </a:rPr>
              <a:t>100%</a:t>
            </a:r>
            <a:endParaRPr lang="en-US" sz="3600" dirty="0"/>
          </a:p>
        </p:txBody>
      </p:sp>
      <p:sp>
        <p:nvSpPr>
          <p:cNvPr id="13" name="Text 11"/>
          <p:cNvSpPr/>
          <p:nvPr/>
        </p:nvSpPr>
        <p:spPr>
          <a:xfrm>
            <a:off x="4526280" y="1600200"/>
            <a:ext cx="1828800" cy="384048"/>
          </a:xfrm>
          <a:prstGeom prst="rect">
            <a:avLst/>
          </a:prstGeom>
          <a:noFill/>
          <a:ln/>
        </p:spPr>
        <p:txBody>
          <a:bodyPr wrap="square" lIns="0" tIns="0" rIns="0" bIns="0" rtlCol="0" anchor="ctr"/>
          <a:lstStyle/>
          <a:p>
            <a:pPr algn="ctr" indent="0" marL="0">
              <a:buNone/>
            </a:pPr>
            <a:r>
              <a:rPr lang="en-US" sz="1100" dirty="0">
                <a:solidFill>
                  <a:srgbClr val="B0BAD0"/>
                </a:solidFill>
                <a:latin typeface="Calibri" pitchFamily="34" charset="0"/>
                <a:ea typeface="Calibri" pitchFamily="34" charset="-122"/>
                <a:cs typeface="Calibri" pitchFamily="34" charset="-120"/>
              </a:rPr>
              <a:t>Tasa de exito (5/5)</a:t>
            </a:r>
            <a:endParaRPr lang="en-US" sz="1100" dirty="0"/>
          </a:p>
        </p:txBody>
      </p:sp>
      <p:sp>
        <p:nvSpPr>
          <p:cNvPr id="14" name="Shape 12"/>
          <p:cNvSpPr/>
          <p:nvPr/>
        </p:nvSpPr>
        <p:spPr>
          <a:xfrm>
            <a:off x="6629400" y="1005840"/>
            <a:ext cx="1828800" cy="1005840"/>
          </a:xfrm>
          <a:prstGeom prst="roundRect">
            <a:avLst>
              <a:gd name="adj" fmla="val 9091"/>
            </a:avLst>
          </a:prstGeom>
          <a:solidFill>
            <a:srgbClr val="222840"/>
          </a:solidFill>
          <a:ln/>
          <a:effectLst>
            <a:outerShdw sx="100000" sy="100000" kx="0" ky="0" algn="bl" rotWithShape="0" blurRad="101600" dist="38100" dir="2700000">
              <a:srgbClr val="000000">
                <a:alpha val="25000"/>
              </a:srgbClr>
            </a:outerShdw>
          </a:effectLst>
        </p:spPr>
      </p:sp>
      <p:sp>
        <p:nvSpPr>
          <p:cNvPr id="15" name="Text 13"/>
          <p:cNvSpPr/>
          <p:nvPr/>
        </p:nvSpPr>
        <p:spPr>
          <a:xfrm>
            <a:off x="6629400" y="1051560"/>
            <a:ext cx="1828800" cy="548640"/>
          </a:xfrm>
          <a:prstGeom prst="rect">
            <a:avLst/>
          </a:prstGeom>
          <a:noFill/>
          <a:ln/>
        </p:spPr>
        <p:txBody>
          <a:bodyPr wrap="square" lIns="0" tIns="0" rIns="0" bIns="0" rtlCol="0" anchor="ctr"/>
          <a:lstStyle/>
          <a:p>
            <a:pPr algn="ctr" indent="0" marL="0">
              <a:buNone/>
            </a:pPr>
            <a:r>
              <a:rPr lang="en-US" sz="3600" b="1" dirty="0">
                <a:solidFill>
                  <a:srgbClr val="D29922"/>
                </a:solidFill>
                <a:latin typeface="Calibri" pitchFamily="34" charset="0"/>
                <a:ea typeface="Calibri" pitchFamily="34" charset="-122"/>
                <a:cs typeface="Calibri" pitchFamily="34" charset="-120"/>
              </a:rPr>
              <a:t>0,6 GB</a:t>
            </a:r>
            <a:endParaRPr lang="en-US" sz="3600" dirty="0"/>
          </a:p>
        </p:txBody>
      </p:sp>
      <p:sp>
        <p:nvSpPr>
          <p:cNvPr id="16" name="Text 14"/>
          <p:cNvSpPr/>
          <p:nvPr/>
        </p:nvSpPr>
        <p:spPr>
          <a:xfrm>
            <a:off x="6629400" y="1600200"/>
            <a:ext cx="1828800" cy="384048"/>
          </a:xfrm>
          <a:prstGeom prst="rect">
            <a:avLst/>
          </a:prstGeom>
          <a:noFill/>
          <a:ln/>
        </p:spPr>
        <p:txBody>
          <a:bodyPr wrap="square" lIns="0" tIns="0" rIns="0" bIns="0" rtlCol="0" anchor="ctr"/>
          <a:lstStyle/>
          <a:p>
            <a:pPr algn="ctr" indent="0" marL="0">
              <a:buNone/>
            </a:pPr>
            <a:r>
              <a:rPr lang="en-US" sz="1100" dirty="0">
                <a:solidFill>
                  <a:srgbClr val="B0BAD0"/>
                </a:solidFill>
                <a:latin typeface="Calibri" pitchFamily="34" charset="0"/>
                <a:ea typeface="Calibri" pitchFamily="34" charset="-122"/>
                <a:cs typeface="Calibri" pitchFamily="34" charset="-120"/>
              </a:rPr>
              <a:t>LLM cuantizado</a:t>
            </a:r>
            <a:endParaRPr lang="en-US" sz="1100" dirty="0"/>
          </a:p>
        </p:txBody>
      </p:sp>
      <p:sp>
        <p:nvSpPr>
          <p:cNvPr id="17" name="Shape 15"/>
          <p:cNvSpPr/>
          <p:nvPr/>
        </p:nvSpPr>
        <p:spPr>
          <a:xfrm>
            <a:off x="320040" y="2194560"/>
            <a:ext cx="3931920" cy="2560320"/>
          </a:xfrm>
          <a:prstGeom prst="roundRect">
            <a:avLst>
              <a:gd name="adj" fmla="val 3571"/>
            </a:avLst>
          </a:prstGeom>
          <a:solidFill>
            <a:srgbClr val="222840"/>
          </a:solidFill>
          <a:ln/>
          <a:effectLst>
            <a:outerShdw sx="100000" sy="100000" kx="0" ky="0" algn="bl" rotWithShape="0" blurRad="101600" dist="38100" dir="2700000">
              <a:srgbClr val="000000">
                <a:alpha val="25000"/>
              </a:srgbClr>
            </a:outerShdw>
          </a:effectLst>
        </p:spPr>
      </p:sp>
      <p:sp>
        <p:nvSpPr>
          <p:cNvPr id="18" name="Text 16"/>
          <p:cNvSpPr/>
          <p:nvPr/>
        </p:nvSpPr>
        <p:spPr>
          <a:xfrm>
            <a:off x="457200" y="2286000"/>
            <a:ext cx="3657600" cy="347472"/>
          </a:xfrm>
          <a:prstGeom prst="rect">
            <a:avLst/>
          </a:prstGeom>
          <a:noFill/>
          <a:ln/>
        </p:spPr>
        <p:txBody>
          <a:bodyPr wrap="square" rtlCol="0" anchor="ctr"/>
          <a:lstStyle/>
          <a:p>
            <a:pPr indent="0" marL="0">
              <a:buNone/>
            </a:pPr>
            <a:r>
              <a:rPr lang="en-US" sz="1300" b="1" dirty="0">
                <a:solidFill>
                  <a:srgbClr val="7C5CFF"/>
                </a:solidFill>
                <a:latin typeface="Calibri" pitchFamily="34" charset="0"/>
                <a:ea typeface="Calibri" pitchFamily="34" charset="-122"/>
                <a:cs typeface="Calibri" pitchFamily="34" charset="-120"/>
              </a:rPr>
              <a:t>Hardware de prueba</a:t>
            </a:r>
            <a:endParaRPr lang="en-US" sz="1300" dirty="0"/>
          </a:p>
        </p:txBody>
      </p:sp>
      <p:sp>
        <p:nvSpPr>
          <p:cNvPr id="19" name="Text 17"/>
          <p:cNvSpPr/>
          <p:nvPr/>
        </p:nvSpPr>
        <p:spPr>
          <a:xfrm>
            <a:off x="502920" y="2724912"/>
            <a:ext cx="822960" cy="41148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CPU:</a:t>
            </a:r>
            <a:endParaRPr lang="en-US" sz="1200" dirty="0"/>
          </a:p>
        </p:txBody>
      </p:sp>
      <p:sp>
        <p:nvSpPr>
          <p:cNvPr id="20" name="Text 18"/>
          <p:cNvSpPr/>
          <p:nvPr/>
        </p:nvSpPr>
        <p:spPr>
          <a:xfrm>
            <a:off x="1371600" y="2724912"/>
            <a:ext cx="2743200" cy="411480"/>
          </a:xfrm>
          <a:prstGeom prst="rect">
            <a:avLst/>
          </a:prstGeom>
          <a:noFill/>
          <a:ln/>
        </p:spPr>
        <p:txBody>
          <a:bodyPr wrap="square" rtlCol="0" anchor="ctr"/>
          <a:lstStyle/>
          <a:p>
            <a:pPr indent="0" marL="0">
              <a:buNone/>
            </a:pPr>
            <a:r>
              <a:rPr lang="en-US" sz="1200" dirty="0">
                <a:solidFill>
                  <a:srgbClr val="B0BAD0"/>
                </a:solidFill>
                <a:latin typeface="Calibri" pitchFamily="34" charset="0"/>
                <a:ea typeface="Calibri" pitchFamily="34" charset="-122"/>
                <a:cs typeface="Calibri" pitchFamily="34" charset="-120"/>
              </a:rPr>
              <a:t>Intel 12 nucleos logicos</a:t>
            </a:r>
            <a:endParaRPr lang="en-US" sz="1200" dirty="0"/>
          </a:p>
        </p:txBody>
      </p:sp>
      <p:sp>
        <p:nvSpPr>
          <p:cNvPr id="21" name="Text 19"/>
          <p:cNvSpPr/>
          <p:nvPr/>
        </p:nvSpPr>
        <p:spPr>
          <a:xfrm>
            <a:off x="502920" y="3209544"/>
            <a:ext cx="822960" cy="41148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RAM:</a:t>
            </a:r>
            <a:endParaRPr lang="en-US" sz="1200" dirty="0"/>
          </a:p>
        </p:txBody>
      </p:sp>
      <p:sp>
        <p:nvSpPr>
          <p:cNvPr id="22" name="Text 20"/>
          <p:cNvSpPr/>
          <p:nvPr/>
        </p:nvSpPr>
        <p:spPr>
          <a:xfrm>
            <a:off x="1371600" y="3209544"/>
            <a:ext cx="2743200" cy="411480"/>
          </a:xfrm>
          <a:prstGeom prst="rect">
            <a:avLst/>
          </a:prstGeom>
          <a:noFill/>
          <a:ln/>
        </p:spPr>
        <p:txBody>
          <a:bodyPr wrap="square" rtlCol="0" anchor="ctr"/>
          <a:lstStyle/>
          <a:p>
            <a:pPr indent="0" marL="0">
              <a:buNone/>
            </a:pPr>
            <a:r>
              <a:rPr lang="en-US" sz="1200" dirty="0">
                <a:solidFill>
                  <a:srgbClr val="B0BAD0"/>
                </a:solidFill>
                <a:latin typeface="Calibri" pitchFamily="34" charset="0"/>
                <a:ea typeface="Calibri" pitchFamily="34" charset="-122"/>
                <a:cs typeface="Calibri" pitchFamily="34" charset="-120"/>
              </a:rPr>
              <a:t>31,6 GB</a:t>
            </a:r>
            <a:endParaRPr lang="en-US" sz="1200" dirty="0"/>
          </a:p>
        </p:txBody>
      </p:sp>
      <p:sp>
        <p:nvSpPr>
          <p:cNvPr id="23" name="Text 21"/>
          <p:cNvSpPr/>
          <p:nvPr/>
        </p:nvSpPr>
        <p:spPr>
          <a:xfrm>
            <a:off x="502920" y="3694176"/>
            <a:ext cx="822960" cy="41148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GPU:</a:t>
            </a:r>
            <a:endParaRPr lang="en-US" sz="1200" dirty="0"/>
          </a:p>
        </p:txBody>
      </p:sp>
      <p:sp>
        <p:nvSpPr>
          <p:cNvPr id="24" name="Text 22"/>
          <p:cNvSpPr/>
          <p:nvPr/>
        </p:nvSpPr>
        <p:spPr>
          <a:xfrm>
            <a:off x="1371600" y="3694176"/>
            <a:ext cx="2743200" cy="411480"/>
          </a:xfrm>
          <a:prstGeom prst="rect">
            <a:avLst/>
          </a:prstGeom>
          <a:noFill/>
          <a:ln/>
        </p:spPr>
        <p:txBody>
          <a:bodyPr wrap="square" rtlCol="0" anchor="ctr"/>
          <a:lstStyle/>
          <a:p>
            <a:pPr indent="0" marL="0">
              <a:buNone/>
            </a:pPr>
            <a:r>
              <a:rPr lang="en-US" sz="1200" dirty="0">
                <a:solidFill>
                  <a:srgbClr val="B0BAD0"/>
                </a:solidFill>
                <a:latin typeface="Calibri" pitchFamily="34" charset="0"/>
                <a:ea typeface="Calibri" pitchFamily="34" charset="-122"/>
                <a:cs typeface="Calibri" pitchFamily="34" charset="-120"/>
              </a:rPr>
              <a:t>RTX 3050 Laptop (4 GB VRAM)</a:t>
            </a:r>
            <a:endParaRPr lang="en-US" sz="1200" dirty="0"/>
          </a:p>
        </p:txBody>
      </p:sp>
      <p:sp>
        <p:nvSpPr>
          <p:cNvPr id="25" name="Text 23"/>
          <p:cNvSpPr/>
          <p:nvPr/>
        </p:nvSpPr>
        <p:spPr>
          <a:xfrm>
            <a:off x="502920" y="4178808"/>
            <a:ext cx="822960" cy="41148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SO:</a:t>
            </a:r>
            <a:endParaRPr lang="en-US" sz="1200" dirty="0"/>
          </a:p>
        </p:txBody>
      </p:sp>
      <p:sp>
        <p:nvSpPr>
          <p:cNvPr id="26" name="Text 24"/>
          <p:cNvSpPr/>
          <p:nvPr/>
        </p:nvSpPr>
        <p:spPr>
          <a:xfrm>
            <a:off x="1371600" y="4178808"/>
            <a:ext cx="2743200" cy="411480"/>
          </a:xfrm>
          <a:prstGeom prst="rect">
            <a:avLst/>
          </a:prstGeom>
          <a:noFill/>
          <a:ln/>
        </p:spPr>
        <p:txBody>
          <a:bodyPr wrap="square" rtlCol="0" anchor="ctr"/>
          <a:lstStyle/>
          <a:p>
            <a:pPr indent="0" marL="0">
              <a:buNone/>
            </a:pPr>
            <a:r>
              <a:rPr lang="en-US" sz="1200" dirty="0">
                <a:solidFill>
                  <a:srgbClr val="B0BAD0"/>
                </a:solidFill>
                <a:latin typeface="Calibri" pitchFamily="34" charset="0"/>
                <a:ea typeface="Calibri" pitchFamily="34" charset="-122"/>
                <a:cs typeface="Calibri" pitchFamily="34" charset="-120"/>
              </a:rPr>
              <a:t>Windows 10/11</a:t>
            </a:r>
            <a:endParaRPr lang="en-US" sz="1200" dirty="0"/>
          </a:p>
        </p:txBody>
      </p:sp>
      <p:sp>
        <p:nvSpPr>
          <p:cNvPr id="27" name="Shape 25"/>
          <p:cNvSpPr/>
          <p:nvPr/>
        </p:nvSpPr>
        <p:spPr>
          <a:xfrm>
            <a:off x="4526280" y="2194560"/>
            <a:ext cx="4251960" cy="2560320"/>
          </a:xfrm>
          <a:prstGeom prst="roundRect">
            <a:avLst>
              <a:gd name="adj" fmla="val 3571"/>
            </a:avLst>
          </a:prstGeom>
          <a:solidFill>
            <a:srgbClr val="222840"/>
          </a:solidFill>
          <a:ln/>
          <a:effectLst>
            <a:outerShdw sx="100000" sy="100000" kx="0" ky="0" algn="bl" rotWithShape="0" blurRad="101600" dist="38100" dir="2700000">
              <a:srgbClr val="000000">
                <a:alpha val="25000"/>
              </a:srgbClr>
            </a:outerShdw>
          </a:effectLst>
        </p:spPr>
      </p:sp>
      <p:sp>
        <p:nvSpPr>
          <p:cNvPr id="28" name="Text 26"/>
          <p:cNvSpPr/>
          <p:nvPr/>
        </p:nvSpPr>
        <p:spPr>
          <a:xfrm>
            <a:off x="4663440" y="2286000"/>
            <a:ext cx="3977640" cy="347472"/>
          </a:xfrm>
          <a:prstGeom prst="rect">
            <a:avLst/>
          </a:prstGeom>
          <a:noFill/>
          <a:ln/>
        </p:spPr>
        <p:txBody>
          <a:bodyPr wrap="square" rtlCol="0" anchor="ctr"/>
          <a:lstStyle/>
          <a:p>
            <a:pPr indent="0" marL="0">
              <a:buNone/>
            </a:pPr>
            <a:r>
              <a:rPr lang="en-US" sz="1300" b="1" dirty="0">
                <a:solidFill>
                  <a:srgbClr val="7C5CFF"/>
                </a:solidFill>
                <a:latin typeface="Calibri" pitchFamily="34" charset="0"/>
                <a:ea typeface="Calibri" pitchFamily="34" charset="-122"/>
                <a:cs typeface="Calibri" pitchFamily="34" charset="-120"/>
              </a:rPr>
              <a:t>Espacio en disco</a:t>
            </a:r>
            <a:endParaRPr lang="en-US" sz="1300" dirty="0"/>
          </a:p>
        </p:txBody>
      </p:sp>
      <p:sp>
        <p:nvSpPr>
          <p:cNvPr id="29" name="Text 27"/>
          <p:cNvSpPr/>
          <p:nvPr/>
        </p:nvSpPr>
        <p:spPr>
          <a:xfrm>
            <a:off x="4663440" y="2724912"/>
            <a:ext cx="3017520" cy="365760"/>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LLM Qwen3-8B cuantizado</a:t>
            </a:r>
            <a:endParaRPr lang="en-US" sz="1100" dirty="0"/>
          </a:p>
        </p:txBody>
      </p:sp>
      <p:sp>
        <p:nvSpPr>
          <p:cNvPr id="30" name="Text 28"/>
          <p:cNvSpPr/>
          <p:nvPr/>
        </p:nvSpPr>
        <p:spPr>
          <a:xfrm>
            <a:off x="7635240" y="2724912"/>
            <a:ext cx="1005840" cy="365760"/>
          </a:xfrm>
          <a:prstGeom prst="rect">
            <a:avLst/>
          </a:prstGeom>
          <a:noFill/>
          <a:ln/>
        </p:spPr>
        <p:txBody>
          <a:bodyPr wrap="square" rtlCol="0" anchor="ctr"/>
          <a:lstStyle/>
          <a:p>
            <a:pPr algn="r" indent="0" marL="0">
              <a:buNone/>
            </a:pPr>
            <a:r>
              <a:rPr lang="en-US" sz="1100" dirty="0">
                <a:solidFill>
                  <a:srgbClr val="4CC9F0"/>
                </a:solidFill>
                <a:latin typeface="Calibri" pitchFamily="34" charset="0"/>
                <a:ea typeface="Calibri" pitchFamily="34" charset="-122"/>
                <a:cs typeface="Calibri" pitchFamily="34" charset="-120"/>
              </a:rPr>
              <a:t>0,60 GB</a:t>
            </a:r>
            <a:endParaRPr lang="en-US" sz="1100" dirty="0"/>
          </a:p>
        </p:txBody>
      </p:sp>
      <p:sp>
        <p:nvSpPr>
          <p:cNvPr id="31" name="Text 29"/>
          <p:cNvSpPr/>
          <p:nvPr/>
        </p:nvSpPr>
        <p:spPr>
          <a:xfrm>
            <a:off x="4663440" y="3127248"/>
            <a:ext cx="3017520" cy="365760"/>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Qwen3-TTS x2 (custom+base)</a:t>
            </a:r>
            <a:endParaRPr lang="en-US" sz="1100" dirty="0"/>
          </a:p>
        </p:txBody>
      </p:sp>
      <p:sp>
        <p:nvSpPr>
          <p:cNvPr id="32" name="Text 30"/>
          <p:cNvSpPr/>
          <p:nvPr/>
        </p:nvSpPr>
        <p:spPr>
          <a:xfrm>
            <a:off x="7635240" y="3127248"/>
            <a:ext cx="1005840" cy="365760"/>
          </a:xfrm>
          <a:prstGeom prst="rect">
            <a:avLst/>
          </a:prstGeom>
          <a:noFill/>
          <a:ln/>
        </p:spPr>
        <p:txBody>
          <a:bodyPr wrap="square" rtlCol="0" anchor="ctr"/>
          <a:lstStyle/>
          <a:p>
            <a:pPr algn="r" indent="0" marL="0">
              <a:buNone/>
            </a:pPr>
            <a:r>
              <a:rPr lang="en-US" sz="1100" dirty="0">
                <a:solidFill>
                  <a:srgbClr val="4CC9F0"/>
                </a:solidFill>
                <a:latin typeface="Calibri" pitchFamily="34" charset="0"/>
                <a:ea typeface="Calibri" pitchFamily="34" charset="-122"/>
                <a:cs typeface="Calibri" pitchFamily="34" charset="-120"/>
              </a:rPr>
              <a:t>4,67 GB</a:t>
            </a:r>
            <a:endParaRPr lang="en-US" sz="1100" dirty="0"/>
          </a:p>
        </p:txBody>
      </p:sp>
      <p:sp>
        <p:nvSpPr>
          <p:cNvPr id="33" name="Text 31"/>
          <p:cNvSpPr/>
          <p:nvPr/>
        </p:nvSpPr>
        <p:spPr>
          <a:xfrm>
            <a:off x="4663440" y="3529584"/>
            <a:ext cx="3017520" cy="365760"/>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Whisper tiny+base + VAD</a:t>
            </a:r>
            <a:endParaRPr lang="en-US" sz="1100" dirty="0"/>
          </a:p>
        </p:txBody>
      </p:sp>
      <p:sp>
        <p:nvSpPr>
          <p:cNvPr id="34" name="Text 32"/>
          <p:cNvSpPr/>
          <p:nvPr/>
        </p:nvSpPr>
        <p:spPr>
          <a:xfrm>
            <a:off x="7635240" y="3529584"/>
            <a:ext cx="1005840" cy="365760"/>
          </a:xfrm>
          <a:prstGeom prst="rect">
            <a:avLst/>
          </a:prstGeom>
          <a:noFill/>
          <a:ln/>
        </p:spPr>
        <p:txBody>
          <a:bodyPr wrap="square" rtlCol="0" anchor="ctr"/>
          <a:lstStyle/>
          <a:p>
            <a:pPr algn="r" indent="0" marL="0">
              <a:buNone/>
            </a:pPr>
            <a:r>
              <a:rPr lang="en-US" sz="1100" dirty="0">
                <a:solidFill>
                  <a:srgbClr val="4CC9F0"/>
                </a:solidFill>
                <a:latin typeface="Calibri" pitchFamily="34" charset="0"/>
                <a:ea typeface="Calibri" pitchFamily="34" charset="-122"/>
                <a:cs typeface="Calibri" pitchFamily="34" charset="-120"/>
              </a:rPr>
              <a:t>~0,25 GB</a:t>
            </a:r>
            <a:endParaRPr lang="en-US" sz="1100" dirty="0"/>
          </a:p>
        </p:txBody>
      </p:sp>
      <p:sp>
        <p:nvSpPr>
          <p:cNvPr id="35" name="Text 33"/>
          <p:cNvSpPr/>
          <p:nvPr/>
        </p:nvSpPr>
        <p:spPr>
          <a:xfrm>
            <a:off x="4663440" y="3931920"/>
            <a:ext cx="3017520" cy="365760"/>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venv Python</a:t>
            </a:r>
            <a:endParaRPr lang="en-US" sz="1100" dirty="0"/>
          </a:p>
        </p:txBody>
      </p:sp>
      <p:sp>
        <p:nvSpPr>
          <p:cNvPr id="36" name="Text 34"/>
          <p:cNvSpPr/>
          <p:nvPr/>
        </p:nvSpPr>
        <p:spPr>
          <a:xfrm>
            <a:off x="7635240" y="3931920"/>
            <a:ext cx="1005840" cy="365760"/>
          </a:xfrm>
          <a:prstGeom prst="rect">
            <a:avLst/>
          </a:prstGeom>
          <a:noFill/>
          <a:ln/>
        </p:spPr>
        <p:txBody>
          <a:bodyPr wrap="square" rtlCol="0" anchor="ctr"/>
          <a:lstStyle/>
          <a:p>
            <a:pPr algn="r" indent="0" marL="0">
              <a:buNone/>
            </a:pPr>
            <a:r>
              <a:rPr lang="en-US" sz="1100" dirty="0">
                <a:solidFill>
                  <a:srgbClr val="4CC9F0"/>
                </a:solidFill>
                <a:latin typeface="Calibri" pitchFamily="34" charset="0"/>
                <a:ea typeface="Calibri" pitchFamily="34" charset="-122"/>
                <a:cs typeface="Calibri" pitchFamily="34" charset="-120"/>
              </a:rPr>
              <a:t>5,27 GB</a:t>
            </a:r>
            <a:endParaRPr lang="en-US" sz="1100" dirty="0"/>
          </a:p>
        </p:txBody>
      </p:sp>
      <p:sp>
        <p:nvSpPr>
          <p:cNvPr id="37" name="Text 35"/>
          <p:cNvSpPr/>
          <p:nvPr/>
        </p:nvSpPr>
        <p:spPr>
          <a:xfrm>
            <a:off x="4663440" y="4334256"/>
            <a:ext cx="301752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TOTAL</a:t>
            </a:r>
            <a:endParaRPr lang="en-US" sz="1300" dirty="0"/>
          </a:p>
        </p:txBody>
      </p:sp>
      <p:sp>
        <p:nvSpPr>
          <p:cNvPr id="38" name="Text 36"/>
          <p:cNvSpPr/>
          <p:nvPr/>
        </p:nvSpPr>
        <p:spPr>
          <a:xfrm>
            <a:off x="7635240" y="4334256"/>
            <a:ext cx="1005840" cy="365760"/>
          </a:xfrm>
          <a:prstGeom prst="rect">
            <a:avLst/>
          </a:prstGeom>
          <a:noFill/>
          <a:ln/>
        </p:spPr>
        <p:txBody>
          <a:bodyPr wrap="square" rtlCol="0" anchor="ctr"/>
          <a:lstStyle/>
          <a:p>
            <a:pPr algn="r" indent="0" marL="0">
              <a:buNone/>
            </a:pPr>
            <a:r>
              <a:rPr lang="en-US" sz="1300" b="1" dirty="0">
                <a:solidFill>
                  <a:srgbClr val="D29922"/>
                </a:solidFill>
                <a:latin typeface="Calibri" pitchFamily="34" charset="0"/>
                <a:ea typeface="Calibri" pitchFamily="34" charset="-122"/>
                <a:cs typeface="Calibri" pitchFamily="34" charset="-120"/>
              </a:rPr>
              <a:t>~10,6 GB</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Instalacion y Despliegue</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17 / 19</a:t>
            </a:r>
            <a:endParaRPr lang="en-US" sz="1000" dirty="0"/>
          </a:p>
        </p:txBody>
      </p:sp>
      <p:sp>
        <p:nvSpPr>
          <p:cNvPr id="5" name="Shape 3"/>
          <p:cNvSpPr/>
          <p:nvPr/>
        </p:nvSpPr>
        <p:spPr>
          <a:xfrm>
            <a:off x="320040" y="1069848"/>
            <a:ext cx="594360" cy="594360"/>
          </a:xfrm>
          <a:prstGeom prst="ellipse">
            <a:avLst/>
          </a:prstGeom>
          <a:solidFill>
            <a:srgbClr val="7C5CFF"/>
          </a:solidFill>
          <a:ln/>
        </p:spPr>
      </p:sp>
      <p:sp>
        <p:nvSpPr>
          <p:cNvPr id="6" name="Text 4"/>
          <p:cNvSpPr/>
          <p:nvPr/>
        </p:nvSpPr>
        <p:spPr>
          <a:xfrm>
            <a:off x="320040" y="1069848"/>
            <a:ext cx="594360" cy="594360"/>
          </a:xfrm>
          <a:prstGeom prst="rect">
            <a:avLst/>
          </a:prstGeom>
          <a:noFill/>
          <a:ln/>
        </p:spPr>
        <p:txBody>
          <a:bodyPr wrap="square" rtlCol="0" anchor="ctr"/>
          <a:lstStyle/>
          <a:p>
            <a:pPr algn="ctr" indent="0" marL="0">
              <a:buNone/>
            </a:pPr>
            <a:r>
              <a:rPr lang="en-US" sz="1800" b="1" dirty="0">
                <a:solidFill>
                  <a:srgbClr val="FFFFFF"/>
                </a:solidFill>
              </a:rPr>
              <a:t>1</a:t>
            </a:r>
            <a:endParaRPr lang="en-US" sz="1800" dirty="0"/>
          </a:p>
        </p:txBody>
      </p:sp>
      <p:sp>
        <p:nvSpPr>
          <p:cNvPr id="7" name="Shape 5"/>
          <p:cNvSpPr/>
          <p:nvPr/>
        </p:nvSpPr>
        <p:spPr>
          <a:xfrm>
            <a:off x="1051560" y="960120"/>
            <a:ext cx="7726680" cy="914400"/>
          </a:xfrm>
          <a:prstGeom prst="roundRect">
            <a:avLst>
              <a:gd name="adj" fmla="val 10000"/>
            </a:avLst>
          </a:prstGeom>
          <a:solidFill>
            <a:srgbClr val="222840"/>
          </a:solidFill>
          <a:ln/>
          <a:effectLst>
            <a:outerShdw sx="100000" sy="100000" kx="0" ky="0" algn="bl" rotWithShape="0" blurRad="101600" dist="38100" dir="2700000">
              <a:srgbClr val="000000">
                <a:alpha val="25000"/>
              </a:srgbClr>
            </a:outerShdw>
          </a:effectLst>
        </p:spPr>
      </p:sp>
      <p:sp>
        <p:nvSpPr>
          <p:cNvPr id="8" name="Text 6"/>
          <p:cNvSpPr/>
          <p:nvPr/>
        </p:nvSpPr>
        <p:spPr>
          <a:xfrm>
            <a:off x="1188720" y="1014984"/>
            <a:ext cx="745236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Descargar Instalar_SOFIA.exe</a:t>
            </a:r>
            <a:endParaRPr lang="en-US" sz="1400" dirty="0"/>
          </a:p>
        </p:txBody>
      </p:sp>
      <p:sp>
        <p:nvSpPr>
          <p:cNvPr id="9" name="Text 7"/>
          <p:cNvSpPr/>
          <p:nvPr/>
        </p:nvSpPr>
        <p:spPr>
          <a:xfrm>
            <a:off x="1188720" y="1344168"/>
            <a:ext cx="7452360" cy="475488"/>
          </a:xfrm>
          <a:prstGeom prst="rect">
            <a:avLst/>
          </a:prstGeom>
          <a:noFill/>
          <a:ln/>
        </p:spPr>
        <p:txBody>
          <a:bodyPr wrap="square" rtlCol="0" anchor="ctr"/>
          <a:lstStyle/>
          <a:p>
            <a:pPr indent="0" marL="0">
              <a:buNone/>
            </a:pPr>
            <a:r>
              <a:rPr lang="en-US" sz="1200" dirty="0">
                <a:solidFill>
                  <a:srgbClr val="B0BAD0"/>
                </a:solidFill>
                <a:latin typeface="Calibri" pitchFamily="34" charset="0"/>
                <a:ea typeface="Calibri" pitchFamily="34" charset="-122"/>
                <a:cs typeface="Calibri" pitchFamily="34" charset="-120"/>
              </a:rPr>
              <a:t>Instalador autocontenido generado con PyInstaller.</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No requiere Python preinstalado por el usuario.</a:t>
            </a:r>
            <a:endParaRPr lang="en-US" sz="1200" dirty="0"/>
          </a:p>
        </p:txBody>
      </p:sp>
      <p:sp>
        <p:nvSpPr>
          <p:cNvPr id="10" name="Shape 8"/>
          <p:cNvSpPr/>
          <p:nvPr/>
        </p:nvSpPr>
        <p:spPr>
          <a:xfrm>
            <a:off x="320040" y="2093976"/>
            <a:ext cx="594360" cy="594360"/>
          </a:xfrm>
          <a:prstGeom prst="ellipse">
            <a:avLst/>
          </a:prstGeom>
          <a:solidFill>
            <a:srgbClr val="7C5CFF"/>
          </a:solidFill>
          <a:ln/>
        </p:spPr>
      </p:sp>
      <p:sp>
        <p:nvSpPr>
          <p:cNvPr id="11" name="Text 9"/>
          <p:cNvSpPr/>
          <p:nvPr/>
        </p:nvSpPr>
        <p:spPr>
          <a:xfrm>
            <a:off x="320040" y="2093976"/>
            <a:ext cx="594360" cy="594360"/>
          </a:xfrm>
          <a:prstGeom prst="rect">
            <a:avLst/>
          </a:prstGeom>
          <a:noFill/>
          <a:ln/>
        </p:spPr>
        <p:txBody>
          <a:bodyPr wrap="square" rtlCol="0" anchor="ctr"/>
          <a:lstStyle/>
          <a:p>
            <a:pPr algn="ctr" indent="0" marL="0">
              <a:buNone/>
            </a:pPr>
            <a:r>
              <a:rPr lang="en-US" sz="1800" b="1" dirty="0">
                <a:solidFill>
                  <a:srgbClr val="FFFFFF"/>
                </a:solidFill>
              </a:rPr>
              <a:t>2</a:t>
            </a:r>
            <a:endParaRPr lang="en-US" sz="1800" dirty="0"/>
          </a:p>
        </p:txBody>
      </p:sp>
      <p:sp>
        <p:nvSpPr>
          <p:cNvPr id="12" name="Shape 10"/>
          <p:cNvSpPr/>
          <p:nvPr/>
        </p:nvSpPr>
        <p:spPr>
          <a:xfrm>
            <a:off x="1051560" y="1984248"/>
            <a:ext cx="7726680" cy="914400"/>
          </a:xfrm>
          <a:prstGeom prst="roundRect">
            <a:avLst>
              <a:gd name="adj" fmla="val 10000"/>
            </a:avLst>
          </a:prstGeom>
          <a:solidFill>
            <a:srgbClr val="222840"/>
          </a:solidFill>
          <a:ln/>
          <a:effectLst>
            <a:outerShdw sx="100000" sy="100000" kx="0" ky="0" algn="bl" rotWithShape="0" blurRad="101600" dist="38100" dir="2700000">
              <a:srgbClr val="000000">
                <a:alpha val="25000"/>
              </a:srgbClr>
            </a:outerShdw>
          </a:effectLst>
        </p:spPr>
      </p:sp>
      <p:sp>
        <p:nvSpPr>
          <p:cNvPr id="13" name="Text 11"/>
          <p:cNvSpPr/>
          <p:nvPr/>
        </p:nvSpPr>
        <p:spPr>
          <a:xfrm>
            <a:off x="1188720" y="2039112"/>
            <a:ext cx="745236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Ejecutar el instalador</a:t>
            </a:r>
            <a:endParaRPr lang="en-US" sz="1400" dirty="0"/>
          </a:p>
        </p:txBody>
      </p:sp>
      <p:sp>
        <p:nvSpPr>
          <p:cNvPr id="14" name="Text 12"/>
          <p:cNvSpPr/>
          <p:nvPr/>
        </p:nvSpPr>
        <p:spPr>
          <a:xfrm>
            <a:off x="1188720" y="2368296"/>
            <a:ext cx="7452360" cy="475488"/>
          </a:xfrm>
          <a:prstGeom prst="rect">
            <a:avLst/>
          </a:prstGeom>
          <a:noFill/>
          <a:ln/>
        </p:spPr>
        <p:txBody>
          <a:bodyPr wrap="square" rtlCol="0" anchor="ctr"/>
          <a:lstStyle/>
          <a:p>
            <a:pPr indent="0" marL="0">
              <a:buNone/>
            </a:pPr>
            <a:r>
              <a:rPr lang="en-US" sz="1200" dirty="0">
                <a:solidFill>
                  <a:srgbClr val="B0BAD0"/>
                </a:solidFill>
                <a:latin typeface="Calibri" pitchFamily="34" charset="0"/>
                <a:ea typeface="Calibri" pitchFamily="34" charset="-122"/>
                <a:cs typeface="Calibri" pitchFamily="34" charset="-120"/>
              </a:rPr>
              <a:t>Detecta hardware (GPU/CUDA), crea venv,</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instala dependencias y descarga modelos automaticamente.</a:t>
            </a:r>
            <a:endParaRPr lang="en-US" sz="1200" dirty="0"/>
          </a:p>
        </p:txBody>
      </p:sp>
      <p:sp>
        <p:nvSpPr>
          <p:cNvPr id="15" name="Shape 13"/>
          <p:cNvSpPr/>
          <p:nvPr/>
        </p:nvSpPr>
        <p:spPr>
          <a:xfrm>
            <a:off x="320040" y="3118104"/>
            <a:ext cx="594360" cy="594360"/>
          </a:xfrm>
          <a:prstGeom prst="ellipse">
            <a:avLst/>
          </a:prstGeom>
          <a:solidFill>
            <a:srgbClr val="7C5CFF"/>
          </a:solidFill>
          <a:ln/>
        </p:spPr>
      </p:sp>
      <p:sp>
        <p:nvSpPr>
          <p:cNvPr id="16" name="Text 14"/>
          <p:cNvSpPr/>
          <p:nvPr/>
        </p:nvSpPr>
        <p:spPr>
          <a:xfrm>
            <a:off x="320040" y="3118104"/>
            <a:ext cx="594360" cy="594360"/>
          </a:xfrm>
          <a:prstGeom prst="rect">
            <a:avLst/>
          </a:prstGeom>
          <a:noFill/>
          <a:ln/>
        </p:spPr>
        <p:txBody>
          <a:bodyPr wrap="square" rtlCol="0" anchor="ctr"/>
          <a:lstStyle/>
          <a:p>
            <a:pPr algn="ctr" indent="0" marL="0">
              <a:buNone/>
            </a:pPr>
            <a:r>
              <a:rPr lang="en-US" sz="1800" b="1" dirty="0">
                <a:solidFill>
                  <a:srgbClr val="FFFFFF"/>
                </a:solidFill>
              </a:rPr>
              <a:t>3</a:t>
            </a:r>
            <a:endParaRPr lang="en-US" sz="1800" dirty="0"/>
          </a:p>
        </p:txBody>
      </p:sp>
      <p:sp>
        <p:nvSpPr>
          <p:cNvPr id="17" name="Shape 15"/>
          <p:cNvSpPr/>
          <p:nvPr/>
        </p:nvSpPr>
        <p:spPr>
          <a:xfrm>
            <a:off x="1051560" y="3008376"/>
            <a:ext cx="7726680" cy="914400"/>
          </a:xfrm>
          <a:prstGeom prst="roundRect">
            <a:avLst>
              <a:gd name="adj" fmla="val 10000"/>
            </a:avLst>
          </a:prstGeom>
          <a:solidFill>
            <a:srgbClr val="222840"/>
          </a:solidFill>
          <a:ln/>
          <a:effectLst>
            <a:outerShdw sx="100000" sy="100000" kx="0" ky="0" algn="bl" rotWithShape="0" blurRad="101600" dist="38100" dir="2700000">
              <a:srgbClr val="000000">
                <a:alpha val="25000"/>
              </a:srgbClr>
            </a:outerShdw>
          </a:effectLst>
        </p:spPr>
      </p:sp>
      <p:sp>
        <p:nvSpPr>
          <p:cNvPr id="18" name="Text 16"/>
          <p:cNvSpPr/>
          <p:nvPr/>
        </p:nvSpPr>
        <p:spPr>
          <a:xfrm>
            <a:off x="1188720" y="3063240"/>
            <a:ext cx="745236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Iniciar SOFIA</a:t>
            </a:r>
            <a:endParaRPr lang="en-US" sz="1400" dirty="0"/>
          </a:p>
        </p:txBody>
      </p:sp>
      <p:sp>
        <p:nvSpPr>
          <p:cNvPr id="19" name="Text 17"/>
          <p:cNvSpPr/>
          <p:nvPr/>
        </p:nvSpPr>
        <p:spPr>
          <a:xfrm>
            <a:off x="1188720" y="3392424"/>
            <a:ext cx="7452360" cy="475488"/>
          </a:xfrm>
          <a:prstGeom prst="rect">
            <a:avLst/>
          </a:prstGeom>
          <a:noFill/>
          <a:ln/>
        </p:spPr>
        <p:txBody>
          <a:bodyPr wrap="square" rtlCol="0" anchor="ctr"/>
          <a:lstStyle/>
          <a:p>
            <a:pPr indent="0" marL="0">
              <a:buNone/>
            </a:pPr>
            <a:r>
              <a:rPr lang="en-US" sz="1200" dirty="0">
                <a:solidFill>
                  <a:srgbClr val="B0BAD0"/>
                </a:solidFill>
                <a:latin typeface="Calibri" pitchFamily="34" charset="0"/>
                <a:ea typeface="Calibri" pitchFamily="34" charset="-122"/>
                <a:cs typeface="Calibri" pitchFamily="34" charset="-120"/>
              </a:rPr>
              <a:t>Doble clic en iniciar_sofia.bat</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o python main.py desde la consola.</a:t>
            </a:r>
            <a:endParaRPr lang="en-US" sz="1200" dirty="0"/>
          </a:p>
        </p:txBody>
      </p:sp>
      <p:sp>
        <p:nvSpPr>
          <p:cNvPr id="20" name="Shape 18"/>
          <p:cNvSpPr/>
          <p:nvPr/>
        </p:nvSpPr>
        <p:spPr>
          <a:xfrm>
            <a:off x="320040" y="4142232"/>
            <a:ext cx="594360" cy="594360"/>
          </a:xfrm>
          <a:prstGeom prst="ellipse">
            <a:avLst/>
          </a:prstGeom>
          <a:solidFill>
            <a:srgbClr val="7C5CFF"/>
          </a:solidFill>
          <a:ln/>
        </p:spPr>
      </p:sp>
      <p:sp>
        <p:nvSpPr>
          <p:cNvPr id="21" name="Text 19"/>
          <p:cNvSpPr/>
          <p:nvPr/>
        </p:nvSpPr>
        <p:spPr>
          <a:xfrm>
            <a:off x="320040" y="4142232"/>
            <a:ext cx="594360" cy="594360"/>
          </a:xfrm>
          <a:prstGeom prst="rect">
            <a:avLst/>
          </a:prstGeom>
          <a:noFill/>
          <a:ln/>
        </p:spPr>
        <p:txBody>
          <a:bodyPr wrap="square" rtlCol="0" anchor="ctr"/>
          <a:lstStyle/>
          <a:p>
            <a:pPr algn="ctr" indent="0" marL="0">
              <a:buNone/>
            </a:pPr>
            <a:r>
              <a:rPr lang="en-US" sz="1800" b="1" dirty="0">
                <a:solidFill>
                  <a:srgbClr val="FFFFFF"/>
                </a:solidFill>
              </a:rPr>
              <a:t>4</a:t>
            </a:r>
            <a:endParaRPr lang="en-US" sz="1800" dirty="0"/>
          </a:p>
        </p:txBody>
      </p:sp>
      <p:sp>
        <p:nvSpPr>
          <p:cNvPr id="22" name="Shape 20"/>
          <p:cNvSpPr/>
          <p:nvPr/>
        </p:nvSpPr>
        <p:spPr>
          <a:xfrm>
            <a:off x="1051560" y="4032504"/>
            <a:ext cx="7726680" cy="914400"/>
          </a:xfrm>
          <a:prstGeom prst="roundRect">
            <a:avLst>
              <a:gd name="adj" fmla="val 10000"/>
            </a:avLst>
          </a:prstGeom>
          <a:solidFill>
            <a:srgbClr val="222840"/>
          </a:solidFill>
          <a:ln/>
          <a:effectLst>
            <a:outerShdw sx="100000" sy="100000" kx="0" ky="0" algn="bl" rotWithShape="0" blurRad="101600" dist="38100" dir="2700000">
              <a:srgbClr val="000000">
                <a:alpha val="25000"/>
              </a:srgbClr>
            </a:outerShdw>
          </a:effectLst>
        </p:spPr>
      </p:sp>
      <p:sp>
        <p:nvSpPr>
          <p:cNvPr id="23" name="Text 21"/>
          <p:cNvSpPr/>
          <p:nvPr/>
        </p:nvSpPr>
        <p:spPr>
          <a:xfrm>
            <a:off x="1188720" y="4087368"/>
            <a:ext cx="745236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Decir 'Sofia'</a:t>
            </a:r>
            <a:endParaRPr lang="en-US" sz="1400" dirty="0"/>
          </a:p>
        </p:txBody>
      </p:sp>
      <p:sp>
        <p:nvSpPr>
          <p:cNvPr id="24" name="Text 22"/>
          <p:cNvSpPr/>
          <p:nvPr/>
        </p:nvSpPr>
        <p:spPr>
          <a:xfrm>
            <a:off x="1188720" y="4416552"/>
            <a:ext cx="7452360" cy="475488"/>
          </a:xfrm>
          <a:prstGeom prst="rect">
            <a:avLst/>
          </a:prstGeom>
          <a:noFill/>
          <a:ln/>
        </p:spPr>
        <p:txBody>
          <a:bodyPr wrap="square" rtlCol="0" anchor="ctr"/>
          <a:lstStyle/>
          <a:p>
            <a:pPr indent="0" marL="0">
              <a:buNone/>
            </a:pPr>
            <a:r>
              <a:rPr lang="en-US" sz="1200" dirty="0">
                <a:solidFill>
                  <a:srgbClr val="B0BAD0"/>
                </a:solidFill>
                <a:latin typeface="Calibri" pitchFamily="34" charset="0"/>
                <a:ea typeface="Calibri" pitchFamily="34" charset="-122"/>
                <a:cs typeface="Calibri" pitchFamily="34" charset="-120"/>
              </a:rPr>
              <a:t>SOFIA responde 'Dime'. Listo para usar.</a:t>
            </a:r>
            <a:endParaRPr lang="en-US" sz="1200" dirty="0"/>
          </a:p>
          <a:p>
            <a:pPr indent="0" marL="0">
              <a:buNone/>
            </a:pPr>
            <a:r>
              <a:rPr lang="en-US" sz="1200" dirty="0">
                <a:solidFill>
                  <a:srgbClr val="B0BAD0"/>
                </a:solidFill>
                <a:latin typeface="Calibri" pitchFamily="34" charset="0"/>
                <a:ea typeface="Calibri" pitchFamily="34" charset="-122"/>
                <a:cs typeface="Calibri" pitchFamily="34" charset="-120"/>
              </a:rPr>
              <a:t>Sin configuracion adicional requerida.</a:t>
            </a:r>
            <a:endParaRPr lang="en-US" sz="1200" dirty="0"/>
          </a:p>
        </p:txBody>
      </p:sp>
      <p:sp>
        <p:nvSpPr>
          <p:cNvPr id="25" name="Shape 23"/>
          <p:cNvSpPr/>
          <p:nvPr/>
        </p:nvSpPr>
        <p:spPr>
          <a:xfrm>
            <a:off x="320040" y="4663440"/>
            <a:ext cx="8503920" cy="347472"/>
          </a:xfrm>
          <a:prstGeom prst="roundRect">
            <a:avLst>
              <a:gd name="adj" fmla="val 21053"/>
            </a:avLst>
          </a:prstGeom>
          <a:solidFill>
            <a:srgbClr val="222840"/>
          </a:solidFill>
          <a:ln/>
        </p:spPr>
      </p:sp>
      <p:sp>
        <p:nvSpPr>
          <p:cNvPr id="26" name="Text 24"/>
          <p:cNvSpPr/>
          <p:nvPr/>
        </p:nvSpPr>
        <p:spPr>
          <a:xfrm>
            <a:off x="457200" y="4663440"/>
            <a:ext cx="8321040" cy="347472"/>
          </a:xfrm>
          <a:prstGeom prst="rect">
            <a:avLst/>
          </a:prstGeom>
          <a:noFill/>
          <a:ln/>
        </p:spPr>
        <p:txBody>
          <a:bodyPr wrap="square" rtlCol="0" anchor="ctr"/>
          <a:lstStyle/>
          <a:p>
            <a:pPr indent="0" marL="0">
              <a:buNone/>
            </a:pPr>
            <a:r>
              <a:rPr lang="en-US" sz="1200" b="1" dirty="0">
                <a:solidFill>
                  <a:srgbClr val="D29922"/>
                </a:solidFill>
                <a:latin typeface="Calibri" pitchFamily="34" charset="0"/>
                <a:ea typeface="Calibri" pitchFamily="34" charset="-122"/>
                <a:cs typeface="Calibri" pitchFamily="34" charset="-120"/>
              </a:rPr>
              <a:t>Desinstalacion: </a:t>
            </a:r>
            <a:pPr indent="0" marL="0">
              <a:buNone/>
            </a:pPr>
            <a:r>
              <a:rPr lang="en-US" sz="1200" dirty="0">
                <a:solidFill>
                  <a:srgbClr val="B0BAD0"/>
                </a:solidFill>
                <a:latin typeface="Calibri" pitchFamily="34" charset="0"/>
                <a:ea typeface="Calibri" pitchFamily="34" charset="-122"/>
                <a:cs typeface="Calibri" pitchFamily="34" charset="-120"/>
              </a:rPr>
              <a:t>borrar data/ + venv/ = 0 residuos en el sistema.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220"/>
        </a:solidFill>
      </p:bgPr>
    </p:bg>
    <p:spTree>
      <p:nvGrpSpPr>
        <p:cNvPr id="1" name=""/>
        <p:cNvGrpSpPr/>
        <p:nvPr/>
      </p:nvGrpSpPr>
      <p:grpSpPr>
        <a:xfrm>
          <a:off x="0" y="0"/>
          <a:ext cx="0" cy="0"/>
          <a:chOff x="0" y="0"/>
          <a:chExt cx="0" cy="0"/>
        </a:xfrm>
      </p:grpSpPr>
      <p:sp>
        <p:nvSpPr>
          <p:cNvPr id="2" name="Text 0"/>
          <p:cNvSpPr/>
          <p:nvPr/>
        </p:nvSpPr>
        <p:spPr>
          <a:xfrm>
            <a:off x="365760" y="164592"/>
            <a:ext cx="77724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Roadmap: Trabajo Futuro</a:t>
            </a:r>
            <a:endParaRPr lang="en-US" sz="2800" dirty="0"/>
          </a:p>
        </p:txBody>
      </p:sp>
      <p:sp>
        <p:nvSpPr>
          <p:cNvPr id="3" name="Shape 1"/>
          <p:cNvSpPr/>
          <p:nvPr/>
        </p:nvSpPr>
        <p:spPr>
          <a:xfrm>
            <a:off x="365760" y="777240"/>
            <a:ext cx="8412480" cy="36576"/>
          </a:xfrm>
          <a:prstGeom prst="rect">
            <a:avLst/>
          </a:prstGeom>
          <a:solidFill>
            <a:srgbClr val="7C5CFF"/>
          </a:solidFill>
          <a:ln w="12700">
            <a:solidFill>
              <a:srgbClr val="7C5CFF"/>
            </a:solidFill>
            <a:prstDash val="solid"/>
          </a:ln>
        </p:spPr>
      </p:sp>
      <p:sp>
        <p:nvSpPr>
          <p:cNvPr id="4" name="Text 2"/>
          <p:cNvSpPr/>
          <p:nvPr/>
        </p:nvSpPr>
        <p:spPr>
          <a:xfrm>
            <a:off x="8046720" y="4892040"/>
            <a:ext cx="822960" cy="256032"/>
          </a:xfrm>
          <a:prstGeom prst="rect">
            <a:avLst/>
          </a:prstGeom>
          <a:noFill/>
          <a:ln/>
        </p:spPr>
        <p:txBody>
          <a:bodyPr wrap="square" rtlCol="0" anchor="ctr"/>
          <a:lstStyle/>
          <a:p>
            <a:pPr algn="r" indent="0" marL="0">
              <a:buNone/>
            </a:pPr>
            <a:r>
              <a:rPr lang="en-US" sz="1000" dirty="0">
                <a:solidFill>
                  <a:srgbClr val="5A6480"/>
                </a:solidFill>
              </a:rPr>
              <a:t>18 / 19</a:t>
            </a:r>
            <a:endParaRPr lang="en-US" sz="1000" dirty="0"/>
          </a:p>
        </p:txBody>
      </p:sp>
      <p:sp>
        <p:nvSpPr>
          <p:cNvPr id="5" name="Shape 3"/>
          <p:cNvSpPr/>
          <p:nvPr/>
        </p:nvSpPr>
        <p:spPr>
          <a:xfrm>
            <a:off x="320040" y="914400"/>
            <a:ext cx="8503920" cy="749808"/>
          </a:xfrm>
          <a:prstGeom prst="roundRect">
            <a:avLst>
              <a:gd name="adj" fmla="val 12195"/>
            </a:avLst>
          </a:prstGeom>
          <a:solidFill>
            <a:srgbClr val="222840"/>
          </a:solidFill>
          <a:ln/>
        </p:spPr>
      </p:sp>
      <p:sp>
        <p:nvSpPr>
          <p:cNvPr id="6" name="Text 4"/>
          <p:cNvSpPr/>
          <p:nvPr/>
        </p:nvSpPr>
        <p:spPr>
          <a:xfrm>
            <a:off x="502920" y="987552"/>
            <a:ext cx="36576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Aprendizaje activo</a:t>
            </a:r>
            <a:endParaRPr lang="en-US" sz="1400" dirty="0"/>
          </a:p>
        </p:txBody>
      </p:sp>
      <p:sp>
        <p:nvSpPr>
          <p:cNvPr id="7" name="Shape 5"/>
          <p:cNvSpPr/>
          <p:nvPr/>
        </p:nvSpPr>
        <p:spPr>
          <a:xfrm>
            <a:off x="7086600" y="1024128"/>
            <a:ext cx="1508760" cy="320040"/>
          </a:xfrm>
          <a:prstGeom prst="roundRect">
            <a:avLst>
              <a:gd name="adj" fmla="val 22857"/>
            </a:avLst>
          </a:prstGeom>
          <a:solidFill>
            <a:srgbClr val="3FB950">
              <a:alpha val="25000"/>
            </a:srgbClr>
          </a:solidFill>
          <a:ln/>
        </p:spPr>
      </p:sp>
      <p:sp>
        <p:nvSpPr>
          <p:cNvPr id="8" name="Text 6"/>
          <p:cNvSpPr/>
          <p:nvPr/>
        </p:nvSpPr>
        <p:spPr>
          <a:xfrm>
            <a:off x="7086600" y="1024128"/>
            <a:ext cx="1508760" cy="320040"/>
          </a:xfrm>
          <a:prstGeom prst="rect">
            <a:avLst/>
          </a:prstGeom>
          <a:noFill/>
          <a:ln/>
        </p:spPr>
        <p:txBody>
          <a:bodyPr wrap="square" rtlCol="0" anchor="ctr"/>
          <a:lstStyle/>
          <a:p>
            <a:pPr algn="ctr" indent="0" marL="0">
              <a:buNone/>
            </a:pPr>
            <a:r>
              <a:rPr lang="en-US" sz="1100" b="1" dirty="0">
                <a:solidFill>
                  <a:srgbClr val="3FB950"/>
                </a:solidFill>
              </a:rPr>
              <a:t>Alta</a:t>
            </a:r>
            <a:endParaRPr lang="en-US" sz="1100" dirty="0"/>
          </a:p>
        </p:txBody>
      </p:sp>
      <p:sp>
        <p:nvSpPr>
          <p:cNvPr id="9" name="Text 7"/>
          <p:cNvSpPr/>
          <p:nvPr/>
        </p:nvSpPr>
        <p:spPr>
          <a:xfrm>
            <a:off x="502920" y="1335024"/>
            <a:ext cx="7955280" cy="301752"/>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Aplicar automaticamente correcciones de aprendizaje.json para actualizar KEYWORDS sin intervencion manual.</a:t>
            </a:r>
            <a:endParaRPr lang="en-US" sz="1100" dirty="0"/>
          </a:p>
        </p:txBody>
      </p:sp>
      <p:sp>
        <p:nvSpPr>
          <p:cNvPr id="10" name="Shape 8"/>
          <p:cNvSpPr/>
          <p:nvPr/>
        </p:nvSpPr>
        <p:spPr>
          <a:xfrm>
            <a:off x="320040" y="1755648"/>
            <a:ext cx="8503920" cy="749808"/>
          </a:xfrm>
          <a:prstGeom prst="roundRect">
            <a:avLst>
              <a:gd name="adj" fmla="val 12195"/>
            </a:avLst>
          </a:prstGeom>
          <a:solidFill>
            <a:srgbClr val="222840"/>
          </a:solidFill>
          <a:ln/>
        </p:spPr>
      </p:sp>
      <p:sp>
        <p:nvSpPr>
          <p:cNvPr id="11" name="Text 9"/>
          <p:cNvSpPr/>
          <p:nvPr/>
        </p:nvSpPr>
        <p:spPr>
          <a:xfrm>
            <a:off x="502920" y="1828800"/>
            <a:ext cx="36576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NLU semantico</a:t>
            </a:r>
            <a:endParaRPr lang="en-US" sz="1400" dirty="0"/>
          </a:p>
        </p:txBody>
      </p:sp>
      <p:sp>
        <p:nvSpPr>
          <p:cNvPr id="12" name="Shape 10"/>
          <p:cNvSpPr/>
          <p:nvPr/>
        </p:nvSpPr>
        <p:spPr>
          <a:xfrm>
            <a:off x="7086600" y="1865376"/>
            <a:ext cx="1508760" cy="320040"/>
          </a:xfrm>
          <a:prstGeom prst="roundRect">
            <a:avLst>
              <a:gd name="adj" fmla="val 22857"/>
            </a:avLst>
          </a:prstGeom>
          <a:solidFill>
            <a:srgbClr val="D29922">
              <a:alpha val="25000"/>
            </a:srgbClr>
          </a:solidFill>
          <a:ln/>
        </p:spPr>
      </p:sp>
      <p:sp>
        <p:nvSpPr>
          <p:cNvPr id="13" name="Text 11"/>
          <p:cNvSpPr/>
          <p:nvPr/>
        </p:nvSpPr>
        <p:spPr>
          <a:xfrm>
            <a:off x="7086600" y="1865376"/>
            <a:ext cx="1508760" cy="320040"/>
          </a:xfrm>
          <a:prstGeom prst="rect">
            <a:avLst/>
          </a:prstGeom>
          <a:noFill/>
          <a:ln/>
        </p:spPr>
        <p:txBody>
          <a:bodyPr wrap="square" rtlCol="0" anchor="ctr"/>
          <a:lstStyle/>
          <a:p>
            <a:pPr algn="ctr" indent="0" marL="0">
              <a:buNone/>
            </a:pPr>
            <a:r>
              <a:rPr lang="en-US" sz="1100" b="1" dirty="0">
                <a:solidFill>
                  <a:srgbClr val="D29922"/>
                </a:solidFill>
              </a:rPr>
              <a:t>Media</a:t>
            </a:r>
            <a:endParaRPr lang="en-US" sz="1100" dirty="0"/>
          </a:p>
        </p:txBody>
      </p:sp>
      <p:sp>
        <p:nvSpPr>
          <p:cNvPr id="14" name="Text 12"/>
          <p:cNvSpPr/>
          <p:nvPr/>
        </p:nvSpPr>
        <p:spPr>
          <a:xfrm>
            <a:off x="502920" y="2176272"/>
            <a:ext cx="7955280" cy="301752"/>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Clasificador de intents por similitud de embeddings. Entender parafrasis sin keywords literales.</a:t>
            </a:r>
            <a:endParaRPr lang="en-US" sz="1100" dirty="0"/>
          </a:p>
        </p:txBody>
      </p:sp>
      <p:sp>
        <p:nvSpPr>
          <p:cNvPr id="15" name="Shape 13"/>
          <p:cNvSpPr/>
          <p:nvPr/>
        </p:nvSpPr>
        <p:spPr>
          <a:xfrm>
            <a:off x="320040" y="2596896"/>
            <a:ext cx="8503920" cy="749808"/>
          </a:xfrm>
          <a:prstGeom prst="roundRect">
            <a:avLst>
              <a:gd name="adj" fmla="val 12195"/>
            </a:avLst>
          </a:prstGeom>
          <a:solidFill>
            <a:srgbClr val="222840"/>
          </a:solidFill>
          <a:ln/>
        </p:spPr>
      </p:sp>
      <p:sp>
        <p:nvSpPr>
          <p:cNvPr id="16" name="Text 14"/>
          <p:cNvSpPr/>
          <p:nvPr/>
        </p:nvSpPr>
        <p:spPr>
          <a:xfrm>
            <a:off x="502920" y="2670048"/>
            <a:ext cx="36576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Voz clonada</a:t>
            </a:r>
            <a:endParaRPr lang="en-US" sz="1400" dirty="0"/>
          </a:p>
        </p:txBody>
      </p:sp>
      <p:sp>
        <p:nvSpPr>
          <p:cNvPr id="17" name="Shape 15"/>
          <p:cNvSpPr/>
          <p:nvPr/>
        </p:nvSpPr>
        <p:spPr>
          <a:xfrm>
            <a:off x="7086600" y="2706624"/>
            <a:ext cx="1508760" cy="320040"/>
          </a:xfrm>
          <a:prstGeom prst="roundRect">
            <a:avLst>
              <a:gd name="adj" fmla="val 22857"/>
            </a:avLst>
          </a:prstGeom>
          <a:solidFill>
            <a:srgbClr val="D29922">
              <a:alpha val="25000"/>
            </a:srgbClr>
          </a:solidFill>
          <a:ln/>
        </p:spPr>
      </p:sp>
      <p:sp>
        <p:nvSpPr>
          <p:cNvPr id="18" name="Text 16"/>
          <p:cNvSpPr/>
          <p:nvPr/>
        </p:nvSpPr>
        <p:spPr>
          <a:xfrm>
            <a:off x="7086600" y="2706624"/>
            <a:ext cx="1508760" cy="320040"/>
          </a:xfrm>
          <a:prstGeom prst="rect">
            <a:avLst/>
          </a:prstGeom>
          <a:noFill/>
          <a:ln/>
        </p:spPr>
        <p:txBody>
          <a:bodyPr wrap="square" rtlCol="0" anchor="ctr"/>
          <a:lstStyle/>
          <a:p>
            <a:pPr algn="ctr" indent="0" marL="0">
              <a:buNone/>
            </a:pPr>
            <a:r>
              <a:rPr lang="en-US" sz="1100" b="1" dirty="0">
                <a:solidFill>
                  <a:srgbClr val="D29922"/>
                </a:solidFill>
              </a:rPr>
              <a:t>Media</a:t>
            </a:r>
            <a:endParaRPr lang="en-US" sz="1100" dirty="0"/>
          </a:p>
        </p:txBody>
      </p:sp>
      <p:sp>
        <p:nvSpPr>
          <p:cNvPr id="19" name="Text 17"/>
          <p:cNvSpPr/>
          <p:nvPr/>
        </p:nvSpPr>
        <p:spPr>
          <a:xfrm>
            <a:off x="502920" y="3017520"/>
            <a:ext cx="7955280" cy="301752"/>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Pipeline de clonacion con Qwen3-TTS-Base y muestra de referencia. SOFIA con la voz del usuario.</a:t>
            </a:r>
            <a:endParaRPr lang="en-US" sz="1100" dirty="0"/>
          </a:p>
        </p:txBody>
      </p:sp>
      <p:sp>
        <p:nvSpPr>
          <p:cNvPr id="20" name="Shape 18"/>
          <p:cNvSpPr/>
          <p:nvPr/>
        </p:nvSpPr>
        <p:spPr>
          <a:xfrm>
            <a:off x="320040" y="3438144"/>
            <a:ext cx="8503920" cy="749808"/>
          </a:xfrm>
          <a:prstGeom prst="roundRect">
            <a:avLst>
              <a:gd name="adj" fmla="val 12195"/>
            </a:avLst>
          </a:prstGeom>
          <a:solidFill>
            <a:srgbClr val="222840"/>
          </a:solidFill>
          <a:ln/>
        </p:spPr>
      </p:sp>
      <p:sp>
        <p:nvSpPr>
          <p:cNvPr id="21" name="Text 19"/>
          <p:cNvSpPr/>
          <p:nvPr/>
        </p:nvSpPr>
        <p:spPr>
          <a:xfrm>
            <a:off x="502920" y="3511296"/>
            <a:ext cx="36576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Multiplataforma</a:t>
            </a:r>
            <a:endParaRPr lang="en-US" sz="1400" dirty="0"/>
          </a:p>
        </p:txBody>
      </p:sp>
      <p:sp>
        <p:nvSpPr>
          <p:cNvPr id="22" name="Shape 20"/>
          <p:cNvSpPr/>
          <p:nvPr/>
        </p:nvSpPr>
        <p:spPr>
          <a:xfrm>
            <a:off x="7086600" y="3547872"/>
            <a:ext cx="1508760" cy="320040"/>
          </a:xfrm>
          <a:prstGeom prst="roundRect">
            <a:avLst>
              <a:gd name="adj" fmla="val 22857"/>
            </a:avLst>
          </a:prstGeom>
          <a:solidFill>
            <a:srgbClr val="5A6480">
              <a:alpha val="25000"/>
            </a:srgbClr>
          </a:solidFill>
          <a:ln/>
        </p:spPr>
      </p:sp>
      <p:sp>
        <p:nvSpPr>
          <p:cNvPr id="23" name="Text 21"/>
          <p:cNvSpPr/>
          <p:nvPr/>
        </p:nvSpPr>
        <p:spPr>
          <a:xfrm>
            <a:off x="7086600" y="3547872"/>
            <a:ext cx="1508760" cy="320040"/>
          </a:xfrm>
          <a:prstGeom prst="rect">
            <a:avLst/>
          </a:prstGeom>
          <a:noFill/>
          <a:ln/>
        </p:spPr>
        <p:txBody>
          <a:bodyPr wrap="square" rtlCol="0" anchor="ctr"/>
          <a:lstStyle/>
          <a:p>
            <a:pPr algn="ctr" indent="0" marL="0">
              <a:buNone/>
            </a:pPr>
            <a:r>
              <a:rPr lang="en-US" sz="1100" b="1" dirty="0">
                <a:solidFill>
                  <a:srgbClr val="5A6480"/>
                </a:solidFill>
              </a:rPr>
              <a:t>Baja</a:t>
            </a:r>
            <a:endParaRPr lang="en-US" sz="1100" dirty="0"/>
          </a:p>
        </p:txBody>
      </p:sp>
      <p:sp>
        <p:nvSpPr>
          <p:cNvPr id="24" name="Text 22"/>
          <p:cNvSpPr/>
          <p:nvPr/>
        </p:nvSpPr>
        <p:spPr>
          <a:xfrm>
            <a:off x="502920" y="3858768"/>
            <a:ext cx="7955280" cy="301752"/>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Abstraccion de control de escritorio compatible con Linux/macOS. Hoy es exclusivo Windows via pywinauto.</a:t>
            </a:r>
            <a:endParaRPr lang="en-US" sz="1100" dirty="0"/>
          </a:p>
        </p:txBody>
      </p:sp>
      <p:sp>
        <p:nvSpPr>
          <p:cNvPr id="25" name="Shape 23"/>
          <p:cNvSpPr/>
          <p:nvPr/>
        </p:nvSpPr>
        <p:spPr>
          <a:xfrm>
            <a:off x="320040" y="4279392"/>
            <a:ext cx="8503920" cy="749808"/>
          </a:xfrm>
          <a:prstGeom prst="roundRect">
            <a:avLst>
              <a:gd name="adj" fmla="val 12195"/>
            </a:avLst>
          </a:prstGeom>
          <a:solidFill>
            <a:srgbClr val="222840"/>
          </a:solidFill>
          <a:ln/>
        </p:spPr>
      </p:sp>
      <p:sp>
        <p:nvSpPr>
          <p:cNvPr id="26" name="Text 24"/>
          <p:cNvSpPr/>
          <p:nvPr/>
        </p:nvSpPr>
        <p:spPr>
          <a:xfrm>
            <a:off x="502920" y="4352544"/>
            <a:ext cx="36576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Fine-tuning local</a:t>
            </a:r>
            <a:endParaRPr lang="en-US" sz="1400" dirty="0"/>
          </a:p>
        </p:txBody>
      </p:sp>
      <p:sp>
        <p:nvSpPr>
          <p:cNvPr id="27" name="Shape 25"/>
          <p:cNvSpPr/>
          <p:nvPr/>
        </p:nvSpPr>
        <p:spPr>
          <a:xfrm>
            <a:off x="7086600" y="4389120"/>
            <a:ext cx="1508760" cy="320040"/>
          </a:xfrm>
          <a:prstGeom prst="roundRect">
            <a:avLst>
              <a:gd name="adj" fmla="val 22857"/>
            </a:avLst>
          </a:prstGeom>
          <a:solidFill>
            <a:srgbClr val="5A6480">
              <a:alpha val="25000"/>
            </a:srgbClr>
          </a:solidFill>
          <a:ln/>
        </p:spPr>
      </p:sp>
      <p:sp>
        <p:nvSpPr>
          <p:cNvPr id="28" name="Text 26"/>
          <p:cNvSpPr/>
          <p:nvPr/>
        </p:nvSpPr>
        <p:spPr>
          <a:xfrm>
            <a:off x="7086600" y="4389120"/>
            <a:ext cx="1508760" cy="320040"/>
          </a:xfrm>
          <a:prstGeom prst="rect">
            <a:avLst/>
          </a:prstGeom>
          <a:noFill/>
          <a:ln/>
        </p:spPr>
        <p:txBody>
          <a:bodyPr wrap="square" rtlCol="0" anchor="ctr"/>
          <a:lstStyle/>
          <a:p>
            <a:pPr algn="ctr" indent="0" marL="0">
              <a:buNone/>
            </a:pPr>
            <a:r>
              <a:rPr lang="en-US" sz="1100" b="1" dirty="0">
                <a:solidFill>
                  <a:srgbClr val="5A6480"/>
                </a:solidFill>
              </a:rPr>
              <a:t>Exploratoria</a:t>
            </a:r>
            <a:endParaRPr lang="en-US" sz="1100" dirty="0"/>
          </a:p>
        </p:txBody>
      </p:sp>
      <p:sp>
        <p:nvSpPr>
          <p:cNvPr id="29" name="Text 27"/>
          <p:cNvSpPr/>
          <p:nvPr/>
        </p:nvSpPr>
        <p:spPr>
          <a:xfrm>
            <a:off x="502920" y="4700016"/>
            <a:ext cx="7955280" cy="301752"/>
          </a:xfrm>
          <a:prstGeom prst="rect">
            <a:avLst/>
          </a:prstGeom>
          <a:noFill/>
          <a:ln/>
        </p:spPr>
        <p:txBody>
          <a:bodyPr wrap="square" rtlCol="0" anchor="ctr"/>
          <a:lstStyle/>
          <a:p>
            <a:pPr indent="0" marL="0">
              <a:buNone/>
            </a:pPr>
            <a:r>
              <a:rPr lang="en-US" sz="1100" dirty="0">
                <a:solidFill>
                  <a:srgbClr val="B0BAD0"/>
                </a:solidFill>
                <a:latin typeface="Calibri" pitchFamily="34" charset="0"/>
                <a:ea typeface="Calibri" pitchFamily="34" charset="-122"/>
                <a:cs typeface="Calibri" pitchFamily="34" charset="-120"/>
              </a:rPr>
              <a:t>Pipeline LoRA/QLoRA con datos de aprendizaje.json. Personalizar el LLM local al usuario especifico.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220"/>
        </a:solidFill>
      </p:bgPr>
    </p:bg>
    <p:spTree>
      <p:nvGrpSpPr>
        <p:cNvPr id="1" name=""/>
        <p:cNvGrpSpPr/>
        <p:nvPr/>
      </p:nvGrpSpPr>
      <p:grpSpPr>
        <a:xfrm>
          <a:off x="0" y="0"/>
          <a:ext cx="0" cy="0"/>
          <a:chOff x="0" y="0"/>
          <a:chExt cx="0" cy="0"/>
        </a:xfrm>
      </p:grpSpPr>
      <p:sp>
        <p:nvSpPr>
          <p:cNvPr id="2" name="Shape 0"/>
          <p:cNvSpPr/>
          <p:nvPr/>
        </p:nvSpPr>
        <p:spPr>
          <a:xfrm>
            <a:off x="3200400" y="-1371600"/>
            <a:ext cx="6400800" cy="6400800"/>
          </a:xfrm>
          <a:prstGeom prst="ellipse">
            <a:avLst/>
          </a:prstGeom>
          <a:solidFill>
            <a:srgbClr val="7C5CFF">
              <a:alpha val="12000"/>
            </a:srgbClr>
          </a:solidFill>
          <a:ln w="12700">
            <a:solidFill>
              <a:srgbClr val="7C5CFF">
                <a:alpha val="12000"/>
              </a:srgbClr>
            </a:solidFill>
            <a:prstDash val="solid"/>
          </a:ln>
        </p:spPr>
      </p:sp>
      <p:sp>
        <p:nvSpPr>
          <p:cNvPr id="3" name="Shape 1"/>
          <p:cNvSpPr/>
          <p:nvPr/>
        </p:nvSpPr>
        <p:spPr>
          <a:xfrm>
            <a:off x="-914400" y="2286000"/>
            <a:ext cx="4572000" cy="4572000"/>
          </a:xfrm>
          <a:prstGeom prst="ellipse">
            <a:avLst/>
          </a:prstGeom>
          <a:solidFill>
            <a:srgbClr val="4CC9F0">
              <a:alpha val="10000"/>
            </a:srgbClr>
          </a:solidFill>
          <a:ln w="12700">
            <a:solidFill>
              <a:srgbClr val="4CC9F0">
                <a:alpha val="10000"/>
              </a:srgbClr>
            </a:solidFill>
            <a:prstDash val="solid"/>
          </a:ln>
        </p:spPr>
      </p:sp>
      <p:sp>
        <p:nvSpPr>
          <p:cNvPr id="4" name="Text 2"/>
          <p:cNvSpPr/>
          <p:nvPr/>
        </p:nvSpPr>
        <p:spPr>
          <a:xfrm>
            <a:off x="457200" y="548640"/>
            <a:ext cx="8229600" cy="1280160"/>
          </a:xfrm>
          <a:prstGeom prst="rect">
            <a:avLst/>
          </a:prstGeom>
          <a:noFill/>
          <a:ln/>
        </p:spPr>
        <p:txBody>
          <a:bodyPr wrap="square" rtlCol="0" anchor="ctr"/>
          <a:lstStyle/>
          <a:p>
            <a:pPr algn="ctr" indent="0" marL="0">
              <a:buNone/>
            </a:pPr>
            <a:r>
              <a:rPr lang="en-US" sz="7200" b="1" spc="1000" kern="0" dirty="0">
                <a:solidFill>
                  <a:srgbClr val="FFFFFF"/>
                </a:solidFill>
                <a:latin typeface="Calibri" pitchFamily="34" charset="0"/>
                <a:ea typeface="Calibri" pitchFamily="34" charset="-122"/>
                <a:cs typeface="Calibri" pitchFamily="34" charset="-120"/>
              </a:rPr>
              <a:t>SOFIA</a:t>
            </a:r>
            <a:endParaRPr lang="en-US" sz="7200" dirty="0"/>
          </a:p>
        </p:txBody>
      </p:sp>
      <p:sp>
        <p:nvSpPr>
          <p:cNvPr id="5" name="Text 3"/>
          <p:cNvSpPr/>
          <p:nvPr/>
        </p:nvSpPr>
        <p:spPr>
          <a:xfrm>
            <a:off x="457200" y="1965960"/>
            <a:ext cx="8229600" cy="502920"/>
          </a:xfrm>
          <a:prstGeom prst="rect">
            <a:avLst/>
          </a:prstGeom>
          <a:noFill/>
          <a:ln/>
        </p:spPr>
        <p:txBody>
          <a:bodyPr wrap="square" rtlCol="0" anchor="ctr"/>
          <a:lstStyle/>
          <a:p>
            <a:pPr algn="ctr" indent="0" marL="0">
              <a:buNone/>
            </a:pPr>
            <a:r>
              <a:rPr lang="en-US" sz="2000" dirty="0">
                <a:solidFill>
                  <a:srgbClr val="4CC9F0"/>
                </a:solidFill>
                <a:latin typeface="Calibri" pitchFamily="34" charset="0"/>
                <a:ea typeface="Calibri" pitchFamily="34" charset="-122"/>
                <a:cs typeface="Calibri" pitchFamily="34" charset="-120"/>
              </a:rPr>
              <a:t>Privacidad · Eficiencia · Sin dependencias de nube</a:t>
            </a:r>
            <a:endParaRPr lang="en-US" sz="2000" dirty="0"/>
          </a:p>
        </p:txBody>
      </p:sp>
      <p:sp>
        <p:nvSpPr>
          <p:cNvPr id="6" name="Shape 4"/>
          <p:cNvSpPr/>
          <p:nvPr/>
        </p:nvSpPr>
        <p:spPr>
          <a:xfrm>
            <a:off x="2286000" y="2606040"/>
            <a:ext cx="4572000" cy="36576"/>
          </a:xfrm>
          <a:prstGeom prst="rect">
            <a:avLst/>
          </a:prstGeom>
          <a:solidFill>
            <a:srgbClr val="7C5CFF"/>
          </a:solidFill>
          <a:ln w="12700">
            <a:solidFill>
              <a:srgbClr val="7C5CFF"/>
            </a:solidFill>
            <a:prstDash val="solid"/>
          </a:ln>
        </p:spPr>
      </p:sp>
      <p:sp>
        <p:nvSpPr>
          <p:cNvPr id="7" name="Text 5"/>
          <p:cNvSpPr/>
          <p:nvPr/>
        </p:nvSpPr>
        <p:spPr>
          <a:xfrm>
            <a:off x="457200" y="2834640"/>
            <a:ext cx="8229600" cy="6400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GRACIAS  —  Preguntas</a:t>
            </a:r>
            <a:endParaRPr lang="en-US" sz="3200" dirty="0"/>
          </a:p>
        </p:txBody>
      </p:sp>
      <p:sp>
        <p:nvSpPr>
          <p:cNvPr id="8" name="Text 6"/>
          <p:cNvSpPr/>
          <p:nvPr/>
        </p:nvSpPr>
        <p:spPr>
          <a:xfrm>
            <a:off x="457200" y="3611880"/>
            <a:ext cx="8229600" cy="365760"/>
          </a:xfrm>
          <a:prstGeom prst="rect">
            <a:avLst/>
          </a:prstGeom>
          <a:noFill/>
          <a:ln/>
        </p:spPr>
        <p:txBody>
          <a:bodyPr wrap="square" rtlCol="0" anchor="ctr"/>
          <a:lstStyle/>
          <a:p>
            <a:pPr algn="ctr" indent="0" marL="0">
              <a:buNone/>
            </a:pPr>
            <a:r>
              <a:rPr lang="en-US" sz="1400" dirty="0">
                <a:solidFill>
                  <a:srgbClr val="B0BAD0"/>
                </a:solidFill>
              </a:rPr>
              <a:t>aetherion.d@gmail.com  ·  C:\ProgramData\SOFIA</a:t>
            </a:r>
            <a:endParaRPr lang="en-US" sz="1400" dirty="0"/>
          </a:p>
        </p:txBody>
      </p:sp>
      <p:sp>
        <p:nvSpPr>
          <p:cNvPr id="9" name="Text 7"/>
          <p:cNvSpPr/>
          <p:nvPr/>
        </p:nvSpPr>
        <p:spPr>
          <a:xfrm>
            <a:off x="457200" y="4251960"/>
            <a:ext cx="8229600" cy="41148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Reporte completo: </a:t>
            </a:r>
            <a:pPr algn="ctr" indent="0" marL="0">
              <a:buNone/>
            </a:pPr>
            <a:r>
              <a:rPr lang="en-US" sz="1300" dirty="0">
                <a:solidFill>
                  <a:srgbClr val="B0BAD0"/>
                </a:solidFill>
                <a:latin typeface="Calibri" pitchFamily="34" charset="0"/>
                <a:ea typeface="Calibri" pitchFamily="34" charset="-122"/>
                <a:cs typeface="Calibri" pitchFamily="34" charset="-120"/>
              </a:rPr>
              <a:t>docs/Reporte_Final_SOFIA.docx</a:t>
            </a:r>
            <a:pPr algn="ctr" indent="0" marL="0">
              <a:buNone/>
            </a:pPr>
            <a:r>
              <a:rPr lang="en-US" sz="1300" dirty="0">
                <a:solidFill>
                  <a:srgbClr val="5A6480"/>
                </a:solidFill>
                <a:latin typeface="Calibri" pitchFamily="34" charset="0"/>
                <a:ea typeface="Calibri" pitchFamily="34" charset="-122"/>
                <a:cs typeface="Calibri" pitchFamily="34" charset="-120"/>
              </a:rPr>
              <a:t>   |   </a:t>
            </a:r>
            <a:pPr algn="ctr" indent="0" marL="0">
              <a:buNone/>
            </a:pPr>
            <a:r>
              <a:rPr lang="en-US" sz="1300" b="1" dirty="0">
                <a:solidFill>
                  <a:srgbClr val="4CC9F0"/>
                </a:solidFill>
                <a:latin typeface="Calibri" pitchFamily="34" charset="0"/>
                <a:ea typeface="Calibri" pitchFamily="34" charset="-122"/>
                <a:cs typeface="Calibri" pitchFamily="34" charset="-120"/>
              </a:rPr>
              <a:t>Catálogo: </a:t>
            </a:r>
            <a:pPr algn="ctr" indent="0" marL="0">
              <a:buNone/>
            </a:pPr>
            <a:r>
              <a:rPr lang="en-US" sz="1300" dirty="0">
                <a:solidFill>
                  <a:srgbClr val="B0BAD0"/>
                </a:solidFill>
                <a:latin typeface="Calibri" pitchFamily="34" charset="0"/>
                <a:ea typeface="Calibri" pitchFamily="34" charset="-122"/>
                <a:cs typeface="Calibri" pitchFamily="34" charset="-120"/>
              </a:rPr>
              <a:t>docs/Catalogo_SOFIA.html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SOFIA — Presentacion Final</dc:title>
  <dc:subject>PptxGenJS Presentation</dc:subject>
  <dc:creator>aether</dc:creator>
  <cp:lastModifiedBy>aether</cp:lastModifiedBy>
  <cp:revision>1</cp:revision>
  <dcterms:created xsi:type="dcterms:W3CDTF">2026-06-17T14:19:26Z</dcterms:created>
  <dcterms:modified xsi:type="dcterms:W3CDTF">2026-06-17T14:19:26Z</dcterms:modified>
</cp:coreProperties>
</file>